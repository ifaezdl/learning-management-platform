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473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1B4B"/>
            </a:gs>
            <a:gs pos="100000">
              <a:srgbClr val="4338CA"/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55255" y="3886249"/>
            <a:ext cx="10561320" cy="57246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 Learning Management System with Learner Performance Analysis and Educational Recommendation Capabilities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07FDE55-2ECB-07F1-6D1E-D082A8BCF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398" y="332819"/>
            <a:ext cx="1495002" cy="175201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518F05B-CAB9-EEEA-4FD5-9413714C64A2}"/>
              </a:ext>
            </a:extLst>
          </p:cNvPr>
          <p:cNvSpPr txBox="1"/>
          <p:nvPr/>
        </p:nvSpPr>
        <p:spPr>
          <a:xfrm>
            <a:off x="4319799" y="2114446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dirty="0"/>
              <a:t>دانشکده فنی حرفه ای دکتر شریعتی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BFAFCF-DD67-CF42-B059-6805FC25E153}"/>
              </a:ext>
            </a:extLst>
          </p:cNvPr>
          <p:cNvSpPr/>
          <p:nvPr/>
        </p:nvSpPr>
        <p:spPr>
          <a:xfrm>
            <a:off x="-2743" y="2805903"/>
            <a:ext cx="12191695" cy="979714"/>
          </a:xfrm>
          <a:prstGeom prst="rect">
            <a:avLst/>
          </a:prstGeom>
          <a:solidFill>
            <a:srgbClr val="2924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396690" y="3156151"/>
            <a:ext cx="9259128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lang="fa-IR" sz="2000" b="1" dirty="0">
                <a:solidFill>
                  <a:schemeClr val="bg1"/>
                </a:solidFill>
                <a:latin typeface="Vazirmatn"/>
              </a:rPr>
              <a:t>طراحی و پیاده سازی سامانه مدیریت یادگیری با قابلیت تحلیل عملکرد فراگیر و ارائه پیشنهادهای آموزشی</a:t>
            </a:r>
            <a:endParaRPr lang="en-US" sz="2000" dirty="0">
              <a:solidFill>
                <a:schemeClr val="bg1"/>
              </a:solidFill>
              <a:latin typeface="Vazirmatn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291BE1-280E-17BC-09AC-9490798B8B5D}"/>
              </a:ext>
            </a:extLst>
          </p:cNvPr>
          <p:cNvSpPr txBox="1"/>
          <p:nvPr/>
        </p:nvSpPr>
        <p:spPr>
          <a:xfrm>
            <a:off x="5010630" y="4717864"/>
            <a:ext cx="1850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b="1" dirty="0">
                <a:solidFill>
                  <a:schemeClr val="tx1">
                    <a:lumMod val="85000"/>
                    <a:lumOff val="15000"/>
                  </a:schemeClr>
                </a:solidFill>
                <a:latin typeface="Vazirmatn"/>
                <a:ea typeface="Vazirmatn"/>
                <a:cs typeface="Vazirmatn"/>
              </a:rPr>
              <a:t>دانشجو: فائزه دلیلی</a:t>
            </a:r>
          </a:p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2FD80F-9E1E-AF82-6C45-AA0DBB4296A4}"/>
              </a:ext>
            </a:extLst>
          </p:cNvPr>
          <p:cNvSpPr txBox="1"/>
          <p:nvPr/>
        </p:nvSpPr>
        <p:spPr>
          <a:xfrm>
            <a:off x="4223753" y="5236166"/>
            <a:ext cx="3605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b="1" dirty="0">
                <a:solidFill>
                  <a:schemeClr val="tx1">
                    <a:lumMod val="85000"/>
                    <a:lumOff val="15000"/>
                  </a:schemeClr>
                </a:solidFill>
                <a:latin typeface="Vazirmatn"/>
                <a:ea typeface="Vazirmatn"/>
                <a:cs typeface="Vazirmatn"/>
              </a:rPr>
              <a:t>استاد راهنما:سرکارخانم ستاری امیری</a:t>
            </a:r>
          </a:p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F51540-C7AB-A61D-499C-82B9DA6EC434}"/>
              </a:ext>
            </a:extLst>
          </p:cNvPr>
          <p:cNvSpPr txBox="1"/>
          <p:nvPr/>
        </p:nvSpPr>
        <p:spPr>
          <a:xfrm>
            <a:off x="2359304" y="6471935"/>
            <a:ext cx="7467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1500" b="1" dirty="0">
                <a:solidFill>
                  <a:srgbClr val="E4E5FB"/>
                </a:solidFill>
                <a:latin typeface="Vazirmatn"/>
                <a:ea typeface="Vazirmatn"/>
                <a:cs typeface="Vazirmatn"/>
              </a:rPr>
              <a:t>شهریور </a:t>
            </a:r>
            <a:r>
              <a:rPr lang="en-US" sz="1500" b="1" dirty="0">
                <a:solidFill>
                  <a:srgbClr val="E4E5FB"/>
                </a:solidFill>
                <a:latin typeface="Vazirmatn"/>
                <a:ea typeface="Vazirmatn"/>
                <a:cs typeface="Vazirmatn"/>
              </a:rPr>
              <a:t>1405</a:t>
            </a:r>
            <a:endParaRPr lang="fa-IR" sz="1500" b="1" dirty="0">
              <a:solidFill>
                <a:srgbClr val="E4E5FB"/>
              </a:solidFill>
              <a:latin typeface="Vazirmatn"/>
              <a:ea typeface="Vazirmatn"/>
              <a:cs typeface="Vazirmat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38318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 dirty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مسئله و ضرورت پروژه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 dirty="0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1569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 dirty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دانشکده شریعتی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02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627" y="1417320"/>
            <a:ext cx="324612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06627" y="1417320"/>
            <a:ext cx="3246120" cy="128016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5227" y="1700784"/>
            <a:ext cx="109728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2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507" y="1874519"/>
            <a:ext cx="288036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fa-IR" sz="15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تولید سؤال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507" y="2743200"/>
            <a:ext cx="2880360" cy="9144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12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تولید تعداد زیادی سؤال استاندارد برای مدرس زمان‌بر است.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72787" y="1417320"/>
            <a:ext cx="324612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72787" y="1417320"/>
            <a:ext cx="3246120" cy="128016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01387" y="1700784"/>
            <a:ext cx="109728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20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667" y="1874519"/>
            <a:ext cx="288036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fa-IR" sz="15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تحلیل سطح مهارت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5667" y="2743200"/>
            <a:ext cx="2880360" cy="9144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12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نمره کلی آزمون مشخص نمی‌کند دانشجو دقیقاً در کدام مهارت ضعف دارد.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8947" y="1417320"/>
            <a:ext cx="3246120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38947" y="1417320"/>
            <a:ext cx="3246120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67547" y="1700784"/>
            <a:ext cx="109728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200" b="1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0۳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1827" y="1874519"/>
            <a:ext cx="288036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lang="fa-IR" sz="15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نبود ارتباط تحلیل با آموزش بعدی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1827" y="2743200"/>
            <a:ext cx="2880360" cy="9144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12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نتیجه ارزیابی باید بتواند به تصمیم آموزشی بعدی منجر شود.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2429103" y="3913632"/>
            <a:ext cx="201168" cy="365760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5995263" y="3913632"/>
            <a:ext cx="201168" cy="365760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Down Arrow 29"/>
          <p:cNvSpPr/>
          <p:nvPr/>
        </p:nvSpPr>
        <p:spPr>
          <a:xfrm>
            <a:off x="9561423" y="3913632"/>
            <a:ext cx="201168" cy="365760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6627" y="4434840"/>
            <a:ext cx="10378439" cy="566928"/>
          </a:xfrm>
          <a:prstGeom prst="roundRect">
            <a:avLst>
              <a:gd name="adj" fmla="val 19354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4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Mentorito — اتصال ارزیابی، تحلیل مهارتی و شخصی‌سازی یادگیری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627" y="5257800"/>
            <a:ext cx="10378439" cy="777240"/>
          </a:xfrm>
          <a:prstGeom prst="roundRect">
            <a:avLst>
              <a:gd name="adj" fmla="val 14117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20000"/>
              </a:lnSpc>
            </a:pPr>
            <a:r>
              <a:rPr lang="fa-IR" sz="14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مسئله اصلی: </a:t>
            </a:r>
            <a:r>
              <a:rPr lang="fa-IR" sz="14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چگونه می‌توان ارزیابی، تحلیل مهارتی و شخصی‌سازی یادگیری را در یک سامانه واحد به هم متصل کرد؟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اهداف Mentorito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شش هدف اصلی سامانه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03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147" y="1417320"/>
            <a:ext cx="352044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32707" y="1645920"/>
            <a:ext cx="82296" cy="128016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6315" y="1581912"/>
            <a:ext cx="82296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603" y="2130552"/>
            <a:ext cx="3017520" cy="6858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3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مدیریت یکپارچه دوره و محتوای آموزشی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03" y="2788920"/>
            <a:ext cx="301752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000" b="0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Course &amp; Content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5627" y="1417320"/>
            <a:ext cx="352044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673187" y="1645920"/>
            <a:ext cx="82296" cy="1280160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36795" y="1581912"/>
            <a:ext cx="82296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5083" y="2130552"/>
            <a:ext cx="3017520" cy="6858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3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برگزاری آزمون و ارزیابی دانشجو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5083" y="2788920"/>
            <a:ext cx="301752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000" b="0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Question Bank + Exam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6107" y="1417320"/>
            <a:ext cx="352044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513667" y="1645920"/>
            <a:ext cx="82296" cy="12801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77275" y="1581912"/>
            <a:ext cx="82296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5563" y="2130552"/>
            <a:ext cx="3017520" cy="6858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3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تولید سؤال با کمک هوش مصنوعی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5563" y="2788920"/>
            <a:ext cx="301752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000" b="0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AI Question Generation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5147" y="3474720"/>
            <a:ext cx="352044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832707" y="3703320"/>
            <a:ext cx="82296" cy="128016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6315" y="3639312"/>
            <a:ext cx="82296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603" y="4187952"/>
            <a:ext cx="3017520" cy="6858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3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تحلیل عملکرد در سطح SkillTag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4603" y="4846320"/>
            <a:ext cx="301752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000" b="0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Skill-Level Analytics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35627" y="3474720"/>
            <a:ext cx="352044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673187" y="3703320"/>
            <a:ext cx="82296" cy="1280160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36795" y="3639312"/>
            <a:ext cx="82296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5083" y="4187952"/>
            <a:ext cx="3017520" cy="6858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3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توصیه آموزشی مبتنی بر وضعیت یادگیرنده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5083" y="4846320"/>
            <a:ext cx="301752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000" b="0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Recommendation Engine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76107" y="3474720"/>
            <a:ext cx="352044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1513667" y="3703320"/>
            <a:ext cx="82296" cy="12801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77275" y="3639312"/>
            <a:ext cx="82296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2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5563" y="4187952"/>
            <a:ext cx="3017520" cy="6858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3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ارائه آزمون‌های تمرینی هدفمند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5563" y="4846320"/>
            <a:ext cx="3017520" cy="29260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000" b="0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Targeted Practice Exams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5147" y="5349240"/>
            <a:ext cx="11201400" cy="640080"/>
          </a:xfrm>
          <a:prstGeom prst="roundRect">
            <a:avLst>
              <a:gd name="adj" fmla="val 17142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4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هدف نهایی: تبدیل داده‌های آموزشی به تصمیم‌های قابل استفاده برای یادگیری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بررسی سامانه‌های موجود و شکاف عملکردی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تحلیل تطبیقی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04 / 22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02920" y="1325880"/>
          <a:ext cx="11185855" cy="4160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1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 rtl="1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Vazirmatn"/>
                          <a:cs typeface="Vazirmatn"/>
                        </a:rPr>
                        <a:t>معیار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Moodle</a:t>
                      </a:r>
                    </a:p>
                  </a:txBody>
                  <a:tcPr anchor="ctr">
                    <a:solidFill>
                      <a:srgbClr val="2A27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Google Classroom</a:t>
                      </a:r>
                    </a:p>
                  </a:txBody>
                  <a:tcPr anchor="ctr">
                    <a:solidFill>
                      <a:srgbClr val="2A27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Coursera</a:t>
                      </a:r>
                    </a:p>
                  </a:txBody>
                  <a:tcPr anchor="ctr">
                    <a:solidFill>
                      <a:srgbClr val="2A27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edX</a:t>
                      </a:r>
                    </a:p>
                  </a:txBody>
                  <a:tcPr anchor="ctr">
                    <a:solidFill>
                      <a:srgbClr val="2A27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LMS فارسی</a:t>
                      </a:r>
                    </a:p>
                  </a:txBody>
                  <a:tcPr anchor="ctr">
                    <a:solidFill>
                      <a:srgbClr val="2A276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Mentorito</a:t>
                      </a:r>
                    </a:p>
                  </a:txBody>
                  <a:tcPr anchor="ctr">
                    <a:solidFill>
                      <a:srgbClr val="5B5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433">
                <a:tc>
                  <a:txBody>
                    <a:bodyPr/>
                    <a:lstStyle/>
                    <a:p>
                      <a:pPr algn="ctr" rtl="1"/>
                      <a:r>
                        <a:rPr lang="fa-IR" sz="1150" b="1">
                          <a:solidFill>
                            <a:srgbClr val="17172B"/>
                          </a:solidFill>
                          <a:latin typeface="Vazirmatn"/>
                          <a:ea typeface="Vazirmatn"/>
                          <a:cs typeface="Vazirmatn"/>
                        </a:rPr>
                        <a:t>مدیریت دوره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433">
                <a:tc>
                  <a:txBody>
                    <a:bodyPr/>
                    <a:lstStyle/>
                    <a:p>
                      <a:pPr algn="ctr" rtl="1"/>
                      <a:r>
                        <a:rPr lang="fa-IR" sz="1150" b="1">
                          <a:solidFill>
                            <a:srgbClr val="17172B"/>
                          </a:solidFill>
                          <a:latin typeface="Vazirmatn"/>
                          <a:ea typeface="Vazirmatn"/>
                          <a:cs typeface="Vazirmatn"/>
                        </a:rPr>
                        <a:t>آزمون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433">
                <a:tc>
                  <a:txBody>
                    <a:bodyPr/>
                    <a:lstStyle/>
                    <a:p>
                      <a:pPr algn="ctr" rtl="1"/>
                      <a:r>
                        <a:rPr lang="fa-IR" sz="1150" b="1">
                          <a:solidFill>
                            <a:srgbClr val="17172B"/>
                          </a:solidFill>
                          <a:latin typeface="Vazirmatn"/>
                          <a:ea typeface="Vazirmatn"/>
                          <a:cs typeface="Vazirmatn"/>
                        </a:rPr>
                        <a:t>تولید سؤال با 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433">
                <a:tc>
                  <a:txBody>
                    <a:bodyPr/>
                    <a:lstStyle/>
                    <a:p>
                      <a:pPr algn="ctr" rtl="1"/>
                      <a:r>
                        <a:rPr lang="fa-IR" sz="1150" b="1">
                          <a:solidFill>
                            <a:srgbClr val="17172B"/>
                          </a:solidFill>
                          <a:latin typeface="Vazirmatn"/>
                          <a:ea typeface="Vazirmatn"/>
                          <a:cs typeface="Vazirmatn"/>
                        </a:rPr>
                        <a:t>Skill-Level Analysis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433">
                <a:tc>
                  <a:txBody>
                    <a:bodyPr/>
                    <a:lstStyle/>
                    <a:p>
                      <a:pPr algn="ctr" rtl="1"/>
                      <a:r>
                        <a:rPr lang="fa-IR" sz="1150" b="1">
                          <a:solidFill>
                            <a:srgbClr val="17172B"/>
                          </a:solidFill>
                          <a:latin typeface="Vazirmatn"/>
                          <a:ea typeface="Vazirmatn"/>
                          <a:cs typeface="Vazirmatn"/>
                        </a:rPr>
                        <a:t>Skill Gap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433">
                <a:tc>
                  <a:txBody>
                    <a:bodyPr/>
                    <a:lstStyle/>
                    <a:p>
                      <a:pPr algn="ctr" rtl="1"/>
                      <a:r>
                        <a:rPr lang="fa-IR" sz="1150" b="1">
                          <a:solidFill>
                            <a:srgbClr val="17172B"/>
                          </a:solidFill>
                          <a:latin typeface="Vazirmatn"/>
                          <a:ea typeface="Vazirmatn"/>
                          <a:cs typeface="Vazirmatn"/>
                        </a:rPr>
                        <a:t>Recommendation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2F3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433">
                <a:tc>
                  <a:txBody>
                    <a:bodyPr/>
                    <a:lstStyle/>
                    <a:p>
                      <a:pPr algn="ctr" rtl="1"/>
                      <a:r>
                        <a:rPr lang="fa-IR" sz="1150" b="1">
                          <a:solidFill>
                            <a:srgbClr val="17172B"/>
                          </a:solidFill>
                          <a:latin typeface="Vazirmatn"/>
                          <a:ea typeface="Vazirmatn"/>
                          <a:cs typeface="Vazirmatn"/>
                        </a:rPr>
                        <a:t>Real-Time 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B4B6D8"/>
                          </a:solidFill>
                          <a:latin typeface="Segoe UI"/>
                          <a:ea typeface="Segoe UI"/>
                          <a:cs typeface="Segoe U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250" b="1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✓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02920" y="5650992"/>
            <a:ext cx="11185855" cy="713232"/>
          </a:xfrm>
          <a:prstGeom prst="roundRect">
            <a:avLst>
              <a:gd name="adj" fmla="val 15384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3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تفاوت Mentorito در قابلیت‌های پایه LMS نیست؛ بلکه در </a:t>
            </a:r>
            <a:r>
              <a:rPr lang="fa-IR" sz="135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اتصال قابلیت‌های هوشمند به یک چرخه آموزشی یکپارچه</a:t>
            </a:r>
            <a:r>
              <a:rPr lang="fa-IR" sz="13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 است.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معرفی سیستم پیشنهادی Mentorito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سه نقش، چهار لایه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05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71600"/>
            <a:ext cx="34107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539728" y="1517904"/>
            <a:ext cx="73152" cy="621792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499616"/>
            <a:ext cx="29992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4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دانشجو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56232"/>
            <a:ext cx="29992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0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یادگیری • آزمون • تحلیل • توصیه • تمرین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404872"/>
            <a:ext cx="34107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539728" y="2551176"/>
            <a:ext cx="73152" cy="6217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2532888"/>
            <a:ext cx="29992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4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مدرس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89504"/>
            <a:ext cx="29992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0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ایجاد دوره • آزمون • تولید سؤال • تحلیل کلاس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438144"/>
            <a:ext cx="341071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539728" y="3584448"/>
            <a:ext cx="73152" cy="6217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3566160"/>
            <a:ext cx="29992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4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مدیر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922776"/>
            <a:ext cx="2999232" cy="3840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0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مدیریت کاربران، نقش‌ها و نظارت سامانه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298448"/>
            <a:ext cx="329184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12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System Layers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1664208"/>
            <a:ext cx="3291840" cy="676656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15875">
            <a:solidFill>
              <a:srgbClr val="4338CA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Frontend</a:t>
            </a:r>
          </a:p>
          <a:p>
            <a:pPr algn="ctr" rtl="1">
              <a:lnSpc>
                <a:spcPct val="100000"/>
              </a:lnSpc>
            </a:pPr>
            <a:r>
              <a:rPr lang="fa-IR" sz="9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React 19 • TypeScript • MUI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272784" y="2359152"/>
            <a:ext cx="164592" cy="182880"/>
          </a:xfrm>
          <a:prstGeom prst="down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09160" y="2578608"/>
            <a:ext cx="3291840" cy="676656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15875">
            <a:solidFill>
              <a:srgbClr val="5B5FEF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0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Backend</a:t>
            </a:r>
          </a:p>
          <a:p>
            <a:pPr algn="ctr" rtl="1">
              <a:lnSpc>
                <a:spcPct val="100000"/>
              </a:lnSpc>
            </a:pPr>
            <a:r>
              <a:rPr lang="fa-IR" sz="9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NestJS • REST API • JWT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6272784" y="3273552"/>
            <a:ext cx="164592" cy="182880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709160" y="3493008"/>
            <a:ext cx="3291840" cy="676656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15875">
            <a:solidFill>
              <a:srgbClr val="6366F1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0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Database</a:t>
            </a:r>
          </a:p>
          <a:p>
            <a:pPr algn="ctr" rtl="1">
              <a:lnSpc>
                <a:spcPct val="100000"/>
              </a:lnSpc>
            </a:pPr>
            <a:r>
              <a:rPr lang="fa-IR" sz="9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Prisma • SQL Server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6272784" y="4187952"/>
            <a:ext cx="164592" cy="182880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709160" y="4407408"/>
            <a:ext cx="3291840" cy="676656"/>
          </a:xfrm>
          <a:prstGeom prst="roundRect">
            <a:avLst>
              <a:gd name="adj" fmla="val 13513"/>
            </a:avLst>
          </a:prstGeom>
          <a:solidFill>
            <a:srgbClr val="FFFFFF"/>
          </a:solidFill>
          <a:ln w="15875">
            <a:solidFill>
              <a:srgbClr val="3B82F6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00" b="1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AI Service</a:t>
            </a:r>
          </a:p>
          <a:p>
            <a:pPr algn="ctr" rtl="1">
              <a:lnSpc>
                <a:spcPct val="100000"/>
              </a:lnSpc>
            </a:pPr>
            <a:r>
              <a:rPr lang="fa-IR" sz="9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Qwen3-4B • OpenAI-Compatible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1371600"/>
            <a:ext cx="3931920" cy="3154680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 Same Side Corner Rectangle 33"/>
          <p:cNvSpPr/>
          <p:nvPr/>
        </p:nvSpPr>
        <p:spPr>
          <a:xfrm>
            <a:off x="502920" y="1371600"/>
            <a:ext cx="3931920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12648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58952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05256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1560" y="1399032"/>
            <a:ext cx="324612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491740"/>
            <a:ext cx="365760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صفحه اصلی (Home) سامانه Mentorito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19272" y="417880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645152"/>
            <a:ext cx="393192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محصول واقعی پیاده‌سازی‌شده — نه نمونه مفهومی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230368"/>
            <a:ext cx="11183112" cy="713232"/>
          </a:xfrm>
          <a:prstGeom prst="roundRect">
            <a:avLst>
              <a:gd name="adj" fmla="val 15384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5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سه نقش کاربری، چهار لایه فنی — یک سامانه یکپارچه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معماری فنی Mentorito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بر پایه پیاده‌سازی واقعی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06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822191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822191" cy="457200"/>
          </a:xfrm>
          <a:prstGeom prst="roundRect">
            <a:avLst>
              <a:gd name="adj" fmla="val 24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19" y="1444752"/>
            <a:ext cx="3456432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Frontend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1" y="2029967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React 19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02951" y="2029967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TypeScript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1" y="24688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MUI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2951" y="2468879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React Router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1" y="2907791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React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2951" y="2907791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Axios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3346703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Vite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3767328"/>
            <a:ext cx="3456432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SPA — تعامل کامل کاربر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7424927" y="2560320"/>
            <a:ext cx="365760" cy="274320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794760" y="1371600"/>
            <a:ext cx="356616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794760" y="137160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77640" y="1444752"/>
            <a:ext cx="3200400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2029967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NestJS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50992" y="2029967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TypeScript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23360" y="2468879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REST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50992" y="2468879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JWT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23360" y="2907791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Refresh Token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50992" y="2907791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SSE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3767328"/>
            <a:ext cx="320040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لایه منطق، امنیت و هماهنگی</a:t>
            </a:r>
          </a:p>
        </p:txBody>
      </p:sp>
      <p:sp>
        <p:nvSpPr>
          <p:cNvPr id="35" name="Left Arrow 34"/>
          <p:cNvSpPr/>
          <p:nvPr/>
        </p:nvSpPr>
        <p:spPr>
          <a:xfrm>
            <a:off x="3364992" y="2560320"/>
            <a:ext cx="365760" cy="274320"/>
          </a:xfrm>
          <a:prstGeom prst="lef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02920" y="4434840"/>
            <a:ext cx="3703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2920" y="4434840"/>
            <a:ext cx="3703320" cy="420624"/>
          </a:xfrm>
          <a:prstGeom prst="roundRect">
            <a:avLst>
              <a:gd name="adj" fmla="val 26086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4489703"/>
            <a:ext cx="3337560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Data Layer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056631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Prisma ORM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5056631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SQL Server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586983"/>
            <a:ext cx="333756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ذخیره‌سازی و پرس‌وجوی داده‌های آموزشی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5477256" y="4187952"/>
            <a:ext cx="201168" cy="219456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229600" y="4434840"/>
            <a:ext cx="345643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229600" y="4434840"/>
            <a:ext cx="3456432" cy="420624"/>
          </a:xfrm>
          <a:prstGeom prst="roundRect">
            <a:avLst>
              <a:gd name="adj" fmla="val 26086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0" y="4489703"/>
            <a:ext cx="3090672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Service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58200" y="5056631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Qwen3-4B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0" y="5056631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00" b="1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OpenAI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586983"/>
            <a:ext cx="309067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تولید سؤال مبتنی بر Context دوره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360920" y="2194560"/>
            <a:ext cx="2596896" cy="2240280"/>
          </a:xfrm>
          <a:prstGeom prst="bentConnector3">
            <a:avLst/>
          </a:prstGeom>
          <a:ln w="1905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02920" y="1371600"/>
            <a:ext cx="2743200" cy="2788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02920" y="137160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" y="1444752"/>
            <a:ext cx="2377440" cy="3474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Real-Time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2011680"/>
            <a:ext cx="2468880" cy="17373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lang="fa-IR" sz="300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SSE</a:t>
            </a:r>
          </a:p>
          <a:p>
            <a:pPr algn="ctr" rtl="1">
              <a:lnSpc>
                <a:spcPct val="130000"/>
              </a:lnSpc>
            </a:pPr>
            <a:r>
              <a:rPr lang="fa-IR" sz="10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Server-Sent Events</a:t>
            </a:r>
          </a:p>
          <a:p>
            <a:pPr algn="ctr" rtl="1">
              <a:lnSpc>
                <a:spcPct val="130000"/>
              </a:lnSpc>
            </a:pPr>
            <a:r>
              <a:rPr lang="fa-IR" sz="10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ارتباط بلادرنگ</a:t>
            </a:r>
          </a:p>
          <a:p>
            <a:pPr algn="ctr" rtl="1">
              <a:lnSpc>
                <a:spcPct val="130000"/>
              </a:lnSpc>
            </a:pPr>
            <a:r>
              <a:rPr lang="fa-IR" sz="10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چت و رویدادهای زنده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246120" y="2743200"/>
            <a:ext cx="548640" cy="0"/>
          </a:xfrm>
          <a:prstGeom prst="line">
            <a:avLst/>
          </a:prstGeom>
          <a:ln w="19050">
            <a:solidFill>
              <a:srgbClr val="636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چرخه یادگیری در Mentorito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ارتباط قابلیت‌ها در یک چرخه واحد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07 / 22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95847" y="1312164"/>
            <a:ext cx="0" cy="2208276"/>
          </a:xfrm>
          <a:prstGeom prst="line">
            <a:avLst/>
          </a:prstGeom>
          <a:ln w="12700">
            <a:solidFill>
              <a:srgbClr val="C9CC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095847" y="1958953"/>
            <a:ext cx="2230696" cy="1561487"/>
          </a:xfrm>
          <a:prstGeom prst="line">
            <a:avLst/>
          </a:prstGeom>
          <a:ln w="12700">
            <a:solidFill>
              <a:srgbClr val="C9CC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3520440"/>
            <a:ext cx="3154680" cy="0"/>
          </a:xfrm>
          <a:prstGeom prst="line">
            <a:avLst/>
          </a:prstGeom>
          <a:ln w="12700">
            <a:solidFill>
              <a:srgbClr val="C9CC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847" y="3520440"/>
            <a:ext cx="2230696" cy="1561486"/>
          </a:xfrm>
          <a:prstGeom prst="line">
            <a:avLst/>
          </a:prstGeom>
          <a:ln w="12700">
            <a:solidFill>
              <a:srgbClr val="C9CC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95847" y="3520440"/>
            <a:ext cx="0" cy="2208276"/>
          </a:xfrm>
          <a:prstGeom prst="line">
            <a:avLst/>
          </a:prstGeom>
          <a:ln w="12700">
            <a:solidFill>
              <a:srgbClr val="C9CC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865151" y="3520440"/>
            <a:ext cx="2230696" cy="1561486"/>
          </a:xfrm>
          <a:prstGeom prst="line">
            <a:avLst/>
          </a:prstGeom>
          <a:ln w="12700">
            <a:solidFill>
              <a:srgbClr val="C9CC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941167" y="3520440"/>
            <a:ext cx="3154680" cy="0"/>
          </a:xfrm>
          <a:prstGeom prst="line">
            <a:avLst/>
          </a:prstGeom>
          <a:ln w="12700">
            <a:solidFill>
              <a:srgbClr val="C9CC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 flipV="1">
            <a:off x="3865151" y="1958953"/>
            <a:ext cx="2230696" cy="1561487"/>
          </a:xfrm>
          <a:prstGeom prst="line">
            <a:avLst/>
          </a:prstGeom>
          <a:ln w="12700">
            <a:solidFill>
              <a:srgbClr val="C9CCF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 rot="1350000">
            <a:off x="7315837" y="1172700"/>
            <a:ext cx="219456" cy="201168"/>
          </a:xfrm>
          <a:prstGeom prst="chevron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 rot="4050000">
            <a:off x="9196342" y="2489053"/>
            <a:ext cx="219456" cy="201168"/>
          </a:xfrm>
          <a:prstGeom prst="chevron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 rot="6750000">
            <a:off x="9196342" y="4350658"/>
            <a:ext cx="219456" cy="201168"/>
          </a:xfrm>
          <a:prstGeom prst="chevron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evron 23"/>
          <p:cNvSpPr/>
          <p:nvPr/>
        </p:nvSpPr>
        <p:spPr>
          <a:xfrm rot="9450000">
            <a:off x="7315837" y="5667011"/>
            <a:ext cx="219456" cy="201168"/>
          </a:xfrm>
          <a:prstGeom prst="chevron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hevron 24"/>
          <p:cNvSpPr/>
          <p:nvPr/>
        </p:nvSpPr>
        <p:spPr>
          <a:xfrm rot="12150000">
            <a:off x="4656401" y="5667011"/>
            <a:ext cx="219456" cy="201168"/>
          </a:xfrm>
          <a:prstGeom prst="chevron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hevron 25"/>
          <p:cNvSpPr/>
          <p:nvPr/>
        </p:nvSpPr>
        <p:spPr>
          <a:xfrm rot="14850000">
            <a:off x="2775896" y="4350658"/>
            <a:ext cx="219456" cy="201168"/>
          </a:xfrm>
          <a:prstGeom prst="chevron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hevron 26"/>
          <p:cNvSpPr/>
          <p:nvPr/>
        </p:nvSpPr>
        <p:spPr>
          <a:xfrm rot="17550000">
            <a:off x="2775896" y="2489053"/>
            <a:ext cx="219456" cy="201168"/>
          </a:xfrm>
          <a:prstGeom prst="chevron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hevron 27"/>
          <p:cNvSpPr/>
          <p:nvPr/>
        </p:nvSpPr>
        <p:spPr>
          <a:xfrm rot="20250000">
            <a:off x="4656401" y="1172700"/>
            <a:ext cx="219456" cy="201168"/>
          </a:xfrm>
          <a:prstGeom prst="chevron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204307" y="1028700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مشاهده محتوا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35003" y="1675489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شرکت در آزمون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8987" y="323697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ثبت پاسخ‌ها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35003" y="4798462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تحلیل SkillTag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04307" y="5445252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تشخیص مهارت‌های ضعیف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3611" y="4798462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توصیه دوره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49627" y="3236976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آزمون تمرینی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3611" y="1675489"/>
            <a:ext cx="17830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یادگیری مجدد</a:t>
            </a:r>
          </a:p>
        </p:txBody>
      </p:sp>
      <p:sp>
        <p:nvSpPr>
          <p:cNvPr id="37" name="Oval 36"/>
          <p:cNvSpPr/>
          <p:nvPr/>
        </p:nvSpPr>
        <p:spPr>
          <a:xfrm>
            <a:off x="5021427" y="2446020"/>
            <a:ext cx="2148840" cy="2148840"/>
          </a:xfrm>
          <a:prstGeom prst="ellipse">
            <a:avLst/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0000"/>
              </a:lnSpc>
            </a:pPr>
            <a:r>
              <a:rPr lang="fa-IR" sz="1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Mentorito</a:t>
            </a:r>
          </a:p>
          <a:p>
            <a:pPr algn="ctr" rtl="1">
              <a:lnSpc>
                <a:spcPct val="110000"/>
              </a:lnSpc>
            </a:pPr>
            <a:r>
              <a:rPr lang="fa-IR" sz="1300" b="1">
                <a:solidFill>
                  <a:srgbClr val="C7C9F8"/>
                </a:solidFill>
                <a:latin typeface="Segoe UI"/>
                <a:ea typeface="Segoe UI"/>
                <a:cs typeface="Segoe UI"/>
              </a:rPr>
              <a:t>Learning Intelligence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6053328"/>
            <a:ext cx="9994392" cy="457200"/>
          </a:xfrm>
          <a:prstGeom prst="roundRect">
            <a:avLst>
              <a:gd name="adj" fmla="val 24000"/>
            </a:avLst>
          </a:prstGeom>
          <a:solidFill>
            <a:srgbClr val="EEF0FF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ارزیابی ← تحلیل ← تشخیص ← توصیه ← تمرین ← یادگیری دوباره؛ بدون خروج از سامانه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فرایند یادگیری از دید دانشجو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پیاده‌سازی واقعی — نه نمونه اولیه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08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256260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>
            <a:off x="502920" y="1371600"/>
            <a:ext cx="2562606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2648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5256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1399032"/>
            <a:ext cx="187680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897380"/>
            <a:ext cx="2288286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Dashboard دانشجو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49958" y="299008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9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47822" y="2258568"/>
            <a:ext cx="146304" cy="18288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376422" y="1371600"/>
            <a:ext cx="256260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 Same Side Corner Rectangle 22"/>
          <p:cNvSpPr/>
          <p:nvPr/>
        </p:nvSpPr>
        <p:spPr>
          <a:xfrm>
            <a:off x="3376422" y="1371600"/>
            <a:ext cx="2562606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486150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32454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778758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25061" y="1399032"/>
            <a:ext cx="187680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3582" y="1897380"/>
            <a:ext cx="2288286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فهرست دوره‌ها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021324" y="2258568"/>
            <a:ext cx="146304" cy="18288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49924" y="1371600"/>
            <a:ext cx="256260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 Same Side Corner Rectangle 30"/>
          <p:cNvSpPr/>
          <p:nvPr/>
        </p:nvSpPr>
        <p:spPr>
          <a:xfrm>
            <a:off x="6249924" y="1371600"/>
            <a:ext cx="2562606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359652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505956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52260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98564" y="1399032"/>
            <a:ext cx="187680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7084" y="1897380"/>
            <a:ext cx="2288286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جزئیات دوره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894826" y="2258568"/>
            <a:ext cx="146304" cy="182880"/>
          </a:xfrm>
          <a:prstGeom prst="right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123426" y="1371600"/>
            <a:ext cx="256260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 Same Side Corner Rectangle 38"/>
          <p:cNvSpPr/>
          <p:nvPr/>
        </p:nvSpPr>
        <p:spPr>
          <a:xfrm>
            <a:off x="9123426" y="1371600"/>
            <a:ext cx="2562606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233154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379458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525762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72066" y="1399032"/>
            <a:ext cx="1876806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0586" y="1897380"/>
            <a:ext cx="2288286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اجرای آزمون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70464" y="299008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16007" y="370332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انتخاب دوره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9731959" y="3813048"/>
            <a:ext cx="310896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086039" y="370332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یادگیری</a:t>
            </a:r>
          </a:p>
        </p:txBody>
      </p:sp>
      <p:sp>
        <p:nvSpPr>
          <p:cNvPr id="49" name="Left Arrow 48"/>
          <p:cNvSpPr/>
          <p:nvPr/>
        </p:nvSpPr>
        <p:spPr>
          <a:xfrm>
            <a:off x="7701991" y="3813048"/>
            <a:ext cx="310896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056071" y="370332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آزمون</a:t>
            </a:r>
          </a:p>
        </p:txBody>
      </p:sp>
      <p:sp>
        <p:nvSpPr>
          <p:cNvPr id="51" name="Left Arrow 50"/>
          <p:cNvSpPr/>
          <p:nvPr/>
        </p:nvSpPr>
        <p:spPr>
          <a:xfrm>
            <a:off x="5672023" y="3813048"/>
            <a:ext cx="310896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026103" y="3703320"/>
            <a:ext cx="1572768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نتیجه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434840"/>
            <a:ext cx="548640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1520" y="4590288"/>
            <a:ext cx="5029200" cy="1463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چه کسی؟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دانشجو — از یادگیری تا آزمون</a:t>
            </a:r>
          </a:p>
          <a:p>
            <a:pPr algn="r" rtl="1">
              <a:lnSpc>
                <a:spcPct val="145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سیستم چه می‌کند؟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مدیریت دوره، اجرای آزمون، ثبت پاسخ</a:t>
            </a:r>
          </a:p>
          <a:p>
            <a:pPr algn="r" rtl="1">
              <a:lnSpc>
                <a:spcPct val="145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خروجی؟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پاسخ‌های ساخت‌یافته برای تحلیل SkillTag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99632" y="4434840"/>
            <a:ext cx="5486400" cy="1737360"/>
          </a:xfrm>
          <a:prstGeom prst="roundRect">
            <a:avLst>
              <a:gd name="adj" fmla="val 6315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0800" y="4590288"/>
            <a:ext cx="5120640" cy="1463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lang="fa-IR" sz="12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این بخش در Mentorito به‌صورت واقعی پیاده‌سازی شده است:</a:t>
            </a:r>
          </a:p>
          <a:p>
            <a:pPr algn="r" rtl="1">
              <a:lnSpc>
                <a:spcPct val="145000"/>
              </a:lnSpc>
            </a:pPr>
            <a:r>
              <a:rPr lang="fa-IR" sz="110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React 19 SPA  •  REST API  •  JWT Session</a:t>
            </a:r>
          </a:p>
          <a:p>
            <a:pPr algn="r" rtl="1">
              <a:lnSpc>
                <a:spcPct val="145000"/>
              </a:lnSpc>
            </a:pPr>
            <a:r>
              <a:rPr lang="fa-IR" sz="11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داده‌های پاسخ، ورودی چرخه تحلیل مهارتی است (اسلایدهای بعد)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تولید سؤال آزمون با هوش مصنوعی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قابلیت کلیدی شماره 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09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56432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>
            <a:off x="8229600" y="1371600"/>
            <a:ext cx="3456432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39327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485632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31936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78240" y="1399032"/>
            <a:ext cx="2770632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965960"/>
            <a:ext cx="3182112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درخواست تولید سؤال توسط مدرس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70463" y="312724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611880"/>
            <a:ext cx="3456432" cy="210312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 Same Side Corner Rectangle 21"/>
          <p:cNvSpPr/>
          <p:nvPr/>
        </p:nvSpPr>
        <p:spPr>
          <a:xfrm>
            <a:off x="8229600" y="3611880"/>
            <a:ext cx="3456432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39327" y="369417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85632" y="369417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31936" y="369417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0" y="3639312"/>
            <a:ext cx="2770632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206240"/>
            <a:ext cx="3182112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Preview سؤال‌های تولیدشده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70463" y="536752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797296"/>
            <a:ext cx="34564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مدرس: درخواست ← سیستم: پیشنهاد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1371600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1. 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انتخاب آزمون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69663" y="1536192"/>
            <a:ext cx="219456" cy="182880"/>
          </a:xfrm>
          <a:prstGeom prst="righ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34840" y="1371600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2. 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Request Generation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2084832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3. 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استخراج ساختار دوره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169663" y="2249424"/>
            <a:ext cx="219456" cy="182880"/>
          </a:xfrm>
          <a:prstGeom prst="righ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434840" y="2084832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4. 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ساخت Prompt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2798064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5. Qwen3-4B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169663" y="2962656"/>
            <a:ext cx="219456" cy="182880"/>
          </a:xfrm>
          <a:prstGeom prst="righ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434840" y="2798064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6. 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JSON Response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511296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7. 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Validation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169663" y="3675888"/>
            <a:ext cx="219456" cy="182880"/>
          </a:xfrm>
          <a:prstGeom prst="righ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434840" y="3511296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8. 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Preview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224528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9. تأیید مدرس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4169663" y="4389120"/>
            <a:ext cx="219456" cy="182880"/>
          </a:xfrm>
          <a:prstGeom prst="righ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434840" y="4224528"/>
            <a:ext cx="361188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10. 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Question Bank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892040"/>
            <a:ext cx="7543800" cy="1280160"/>
          </a:xfrm>
          <a:prstGeom prst="roundRect">
            <a:avLst>
              <a:gd name="adj" fmla="val 8571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5029200"/>
            <a:ext cx="7086600" cy="10515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چه کسی؟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مدرس درخواست تولید سؤال می‌دهد</a:t>
            </a:r>
          </a:p>
          <a:p>
            <a:pPr algn="r" rtl="1">
              <a:lnSpc>
                <a:spcPct val="140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سیستم: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استخراج Context ← ساخت Prompt ← </a:t>
            </a:r>
            <a:r>
              <a:rPr lang="fa-IR" sz="11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Qwen3-4B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 ← اعتبارسنجی JSON</a:t>
            </a:r>
          </a:p>
          <a:p>
            <a:pPr algn="r" rtl="1">
              <a:lnSpc>
                <a:spcPct val="140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خروجی: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پیش‌نمایش سؤال‌ها برای بررسی و تأیید مدرس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تولید سؤال مبتنی بر محتوای واقعی دوره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Context-Aware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10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371600"/>
            <a:ext cx="4050791" cy="3977639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1481328"/>
            <a:ext cx="3685031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14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Learning Context</a:t>
            </a:r>
          </a:p>
        </p:txBody>
      </p:sp>
      <p:sp>
        <p:nvSpPr>
          <p:cNvPr id="15" name="Oval 14"/>
          <p:cNvSpPr/>
          <p:nvPr/>
        </p:nvSpPr>
        <p:spPr>
          <a:xfrm>
            <a:off x="11301984" y="2029968"/>
            <a:ext cx="109728" cy="10972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1938528"/>
            <a:ext cx="3273551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Course Title</a:t>
            </a:r>
          </a:p>
        </p:txBody>
      </p:sp>
      <p:sp>
        <p:nvSpPr>
          <p:cNvPr id="17" name="Oval 16"/>
          <p:cNvSpPr/>
          <p:nvPr/>
        </p:nvSpPr>
        <p:spPr>
          <a:xfrm>
            <a:off x="11301984" y="2441448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2350008"/>
            <a:ext cx="3273551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Section Titles</a:t>
            </a:r>
          </a:p>
        </p:txBody>
      </p:sp>
      <p:sp>
        <p:nvSpPr>
          <p:cNvPr id="19" name="Oval 18"/>
          <p:cNvSpPr/>
          <p:nvPr/>
        </p:nvSpPr>
        <p:spPr>
          <a:xfrm>
            <a:off x="11301984" y="285292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2761488"/>
            <a:ext cx="3273551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Lesson Titles</a:t>
            </a:r>
          </a:p>
        </p:txBody>
      </p:sp>
      <p:sp>
        <p:nvSpPr>
          <p:cNvPr id="21" name="Oval 20"/>
          <p:cNvSpPr/>
          <p:nvPr/>
        </p:nvSpPr>
        <p:spPr>
          <a:xfrm>
            <a:off x="11301984" y="326440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9560" y="3172968"/>
            <a:ext cx="3273551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Learning Outcomes</a:t>
            </a:r>
          </a:p>
        </p:txBody>
      </p:sp>
      <p:sp>
        <p:nvSpPr>
          <p:cNvPr id="23" name="Oval 22"/>
          <p:cNvSpPr/>
          <p:nvPr/>
        </p:nvSpPr>
        <p:spPr>
          <a:xfrm>
            <a:off x="11301984" y="3675887"/>
            <a:ext cx="109728" cy="109728"/>
          </a:xfrm>
          <a:prstGeom prst="ellipse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9560" y="3584448"/>
            <a:ext cx="3273551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Prerequisites</a:t>
            </a:r>
          </a:p>
        </p:txBody>
      </p:sp>
      <p:sp>
        <p:nvSpPr>
          <p:cNvPr id="25" name="Oval 24"/>
          <p:cNvSpPr/>
          <p:nvPr/>
        </p:nvSpPr>
        <p:spPr>
          <a:xfrm>
            <a:off x="11301984" y="4087368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3995928"/>
            <a:ext cx="3273551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Course Description</a:t>
            </a:r>
          </a:p>
        </p:txBody>
      </p:sp>
      <p:sp>
        <p:nvSpPr>
          <p:cNvPr id="27" name="Oval 26"/>
          <p:cNvSpPr/>
          <p:nvPr/>
        </p:nvSpPr>
        <p:spPr>
          <a:xfrm>
            <a:off x="11301984" y="4498848"/>
            <a:ext cx="109728" cy="10972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60" y="4407408"/>
            <a:ext cx="3273551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Difficulty</a:t>
            </a:r>
          </a:p>
        </p:txBody>
      </p:sp>
      <p:sp>
        <p:nvSpPr>
          <p:cNvPr id="29" name="Oval 28"/>
          <p:cNvSpPr/>
          <p:nvPr/>
        </p:nvSpPr>
        <p:spPr>
          <a:xfrm>
            <a:off x="11301984" y="4910327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09560" y="4818888"/>
            <a:ext cx="3273551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Category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77440" y="141732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Course Structure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794760" y="2020824"/>
            <a:ext cx="182880" cy="201168"/>
          </a:xfrm>
          <a:prstGeom prst="down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377440" y="2258568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5B5FEF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Learning Context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794760" y="2862072"/>
            <a:ext cx="182880" cy="201168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377440" y="3099816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6366F1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Prompt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3794760" y="3703320"/>
            <a:ext cx="182880" cy="201168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2377440" y="3941064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3B82F6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Qwen3-4B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3794760" y="4544568"/>
            <a:ext cx="182880" cy="201168"/>
          </a:xfrm>
          <a:prstGeom prst="downArrow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2377440" y="4782312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Structured Questions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1554480"/>
            <a:ext cx="173736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1">
              <a:lnSpc>
                <a:spcPct val="100000"/>
              </a:lnSpc>
            </a:pPr>
            <a:r>
              <a:rPr lang="fa-IR" sz="1050" b="1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از دیتابیس دوره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246120"/>
            <a:ext cx="1737360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1">
              <a:lnSpc>
                <a:spcPct val="100000"/>
              </a:lnSpc>
            </a:pPr>
            <a:r>
              <a:rPr lang="fa-IR" sz="1050" b="1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مهندسی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4846320"/>
            <a:ext cx="1691640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050" b="1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سؤال ساخت‌یافته + SkillTag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06040" y="5440680"/>
            <a:ext cx="2560320" cy="96012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 Same Side Corner Rectangle 43"/>
          <p:cNvSpPr/>
          <p:nvPr/>
        </p:nvSpPr>
        <p:spPr>
          <a:xfrm>
            <a:off x="2606040" y="5440680"/>
            <a:ext cx="2560320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2715768" y="552297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862072" y="552297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008376" y="552297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154680" y="5468112"/>
            <a:ext cx="1874519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769864"/>
            <a:ext cx="22860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Preview سؤال‌ها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50792" y="605332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35240" y="5577840"/>
            <a:ext cx="4050791" cy="777240"/>
          </a:xfrm>
          <a:prstGeom prst="roundRect">
            <a:avLst>
              <a:gd name="adj" fmla="val 14117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هدف: تولید سؤال مرتبط با همان دوره، نه سؤال عمومی و مستقل از محتوا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کنترل مدرس و برچسب مهارتی سؤال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Human-in-the-Loop + SkillTag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11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25880"/>
            <a:ext cx="1118311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444752"/>
            <a:ext cx="1069848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4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Human in the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0304" y="1938528"/>
            <a:ext cx="2395728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AI پیشنهاد می‌دهد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8887968" y="2148840"/>
            <a:ext cx="329184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91656" y="1938528"/>
            <a:ext cx="2395728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مدرس بررسی می‌کند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5989320" y="2148840"/>
            <a:ext cx="329184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493008" y="1938528"/>
            <a:ext cx="2395728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مدرس اصلاح / تأیید می‌کند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3090672" y="2148840"/>
            <a:ext cx="329184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4360" y="1938528"/>
            <a:ext cx="2395728" cy="65836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سؤال وارد بانک سؤال می‌شود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798064"/>
            <a:ext cx="1069848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تأکید: </a:t>
            </a:r>
            <a:r>
              <a:rPr lang="fa-IR" sz="12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هوش مصنوعی جایگزین تصمیم تخصصی مدرس نیست.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5486400" cy="2514600"/>
          </a:xfrm>
          <a:prstGeom prst="roundRect">
            <a:avLst>
              <a:gd name="adj" fmla="val 4363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730752"/>
            <a:ext cx="5029200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4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SkillTag</a:t>
            </a:r>
            <a:r>
              <a:rPr lang="fa-IR" sz="14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 — برچسب مهارتی سؤال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224528"/>
            <a:ext cx="2194560" cy="548640"/>
          </a:xfrm>
          <a:prstGeom prst="roundRect">
            <a:avLst>
              <a:gd name="adj" fmla="val 16666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5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Normalization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3200400" y="4379976"/>
            <a:ext cx="365760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657600" y="4224528"/>
            <a:ext cx="2103120" cy="548640"/>
          </a:xfrm>
          <a:prstGeom prst="roundRect">
            <a:avLst>
              <a:gd name="adj" fmla="val 16666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نرمال‌سازی جداول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74336"/>
            <a:ext cx="5029200" cy="10515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هر سؤال یک برچسب مهارتی ۲ تا ۴ کلمه‌ای دارد.</a:t>
            </a:r>
          </a:p>
          <a:p>
            <a:pPr algn="r" rtl="1">
              <a:lnSpc>
                <a:spcPct val="135000"/>
              </a:lnSpc>
            </a:pP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این برچسب بعداً مبنای تحلیل عملکرد دانشجو است.</a:t>
            </a:r>
          </a:p>
          <a:p>
            <a:pPr algn="r" rtl="1">
              <a:lnSpc>
                <a:spcPct val="135000"/>
              </a:lnSpc>
            </a:pPr>
            <a:r>
              <a:rPr lang="fa-IR" sz="11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مدرس پس از Preview می‌تواند سؤال‌ها را ویرایش کند.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61188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>
            <a:off x="6199632" y="3611880"/>
            <a:ext cx="5486400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309360" y="369417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55664" y="369417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01968" y="369417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48272" y="3639312"/>
            <a:ext cx="48006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4411980"/>
            <a:ext cx="521208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صفحه تأیید و ویرایش سؤال توسط مدرس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70464" y="577900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تحلیل عملکرد دانشجو در سطح مهارت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فراتر از نمره کلی — Skill-Level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12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640080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>
            <a:off x="502920" y="1371600"/>
            <a:ext cx="6400800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2648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5256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1399032"/>
            <a:ext cx="57150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39"/>
            <a:ext cx="612648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داشبورد تحلیل مهارتی دانشجو — نمودار راداری و Weak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88152" y="577900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371600"/>
            <a:ext cx="2200503" cy="493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۱. پاسخ‌ها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88271" y="1371600"/>
            <a:ext cx="2200503" cy="49377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۲. گروه‌بندی بر اساس SkillTag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78040" y="1956816"/>
            <a:ext cx="2200503" cy="4937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۳. محاسبه درصد تسلط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8271" y="1956816"/>
            <a:ext cx="2200503" cy="493776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 w="12700">
            <a:solidFill>
              <a:srgbClr val="5B5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۴. مرتب‌سازی مهارت‌ها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606040"/>
            <a:ext cx="4510735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0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نمونه خروجی تحلیل: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178040" y="2999232"/>
          <a:ext cx="451073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Skill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Performance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050" b="1">
                          <a:solidFill>
                            <a:srgbClr val="FFFFFF"/>
                          </a:solidFill>
                          <a:latin typeface="Segoe UI"/>
                          <a:ea typeface="Vazirmatn"/>
                          <a:cs typeface="Vazirmatn"/>
                        </a:rPr>
                        <a:t>وضعیت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0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SQL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0">
                          <a:solidFill>
                            <a:srgbClr val="17172B"/>
                          </a:solidFill>
                          <a:latin typeface="Segoe UI"/>
                          <a:ea typeface="Segoe UI"/>
                          <a:cs typeface="Segoe UI"/>
                        </a:rPr>
                        <a:t>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050" b="1">
                          <a:solidFill>
                            <a:srgbClr val="17172B"/>
                          </a:solidFill>
                          <a:latin typeface="Segoe UI"/>
                          <a:ea typeface="Vazirmatn"/>
                          <a:cs typeface="Vazirmatn"/>
                        </a:rPr>
                        <a:t>مطلوب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0">
                          <a:solidFill>
                            <a:srgbClr val="6366F1"/>
                          </a:solidFill>
                          <a:latin typeface="Segoe UI"/>
                          <a:ea typeface="Segoe UI"/>
                          <a:cs typeface="Segoe UI"/>
                        </a:rPr>
                        <a:t>ERD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0">
                          <a:solidFill>
                            <a:srgbClr val="17172B"/>
                          </a:solidFill>
                          <a:latin typeface="Segoe UI"/>
                          <a:ea typeface="Segoe UI"/>
                          <a:cs typeface="Segoe UI"/>
                        </a:rPr>
                        <a:t>75%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050" b="1">
                          <a:solidFill>
                            <a:srgbClr val="17172B"/>
                          </a:solidFill>
                          <a:latin typeface="Segoe UI"/>
                          <a:ea typeface="Vazirmatn"/>
                          <a:cs typeface="Vazirmatn"/>
                        </a:rPr>
                        <a:t>مطلوب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4338CA"/>
                          </a:solidFill>
                          <a:latin typeface="Segoe UI"/>
                          <a:ea typeface="Segoe UI"/>
                          <a:cs typeface="Segoe UI"/>
                        </a:rPr>
                        <a:t>Normalization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4338CA"/>
                          </a:solidFill>
                          <a:latin typeface="Segoe UI"/>
                          <a:ea typeface="Segoe UI"/>
                          <a:cs typeface="Segoe UI"/>
                        </a:rPr>
                        <a:t>44%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050" b="1">
                          <a:solidFill>
                            <a:srgbClr val="4338CA"/>
                          </a:solidFill>
                          <a:latin typeface="Segoe UI"/>
                          <a:ea typeface="Vazirmatn"/>
                          <a:cs typeface="Vazirmatn"/>
                        </a:rPr>
                        <a:t>ضعیف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4338CA"/>
                          </a:solidFill>
                          <a:latin typeface="Segoe UI"/>
                          <a:ea typeface="Segoe UI"/>
                          <a:cs typeface="Segoe UI"/>
                        </a:rPr>
                        <a:t>Transaction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fa-IR" sz="1050" b="1">
                          <a:solidFill>
                            <a:srgbClr val="4338CA"/>
                          </a:solidFill>
                          <a:latin typeface="Segoe UI"/>
                          <a:ea typeface="Segoe UI"/>
                          <a:cs typeface="Segoe UI"/>
                        </a:rPr>
                        <a:t>32%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050" b="1">
                          <a:solidFill>
                            <a:srgbClr val="4338CA"/>
                          </a:solidFill>
                          <a:latin typeface="Segoe UI"/>
                          <a:ea typeface="Vazirmatn"/>
                          <a:cs typeface="Vazirmatn"/>
                        </a:rPr>
                        <a:t>ضعیف</a:t>
                      </a:r>
                    </a:p>
                  </a:txBody>
                  <a:tcPr anchor="ctr">
                    <a:solidFill>
                      <a:srgbClr val="EE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178040" y="4892040"/>
            <a:ext cx="4510735" cy="731520"/>
          </a:xfrm>
          <a:prstGeom prst="roundRect">
            <a:avLst>
              <a:gd name="adj" fmla="val 15000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20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دو دانشجو با نمره یکسان الزاماً وضعیت مهارتی یکسانی ندارند.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760720"/>
            <a:ext cx="4510735" cy="5486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در داشبورد Mentorito، </a:t>
            </a:r>
            <a:r>
              <a:rPr lang="fa-IR" sz="110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Radar Chart</a:t>
            </a: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 و نمایش Weak Skills برای همین هدف استفاده شده است.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تحلیل عملکرد کلاس از دید مدرس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Instructor Analytics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13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694944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>
            <a:off x="502920" y="1371600"/>
            <a:ext cx="6949440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2648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5256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1399032"/>
            <a:ext cx="626364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39"/>
            <a:ext cx="667512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داشبورد تحلیل عملکرد کلاس — دید مدرس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577900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71600"/>
            <a:ext cx="4053535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542471" y="1508760"/>
            <a:ext cx="73152" cy="621792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18119" y="1463040"/>
            <a:ext cx="359633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3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عملکرد دانشجویان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1810512"/>
            <a:ext cx="3596335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0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عملکرد هر دانشجو در آزمون‌ها و مهارت‌ها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2395728"/>
            <a:ext cx="4053535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542471" y="2532888"/>
            <a:ext cx="73152" cy="6217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18119" y="2487168"/>
            <a:ext cx="359633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3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میانگین عملکرد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2834640"/>
            <a:ext cx="3596335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0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میانگین کلاس به‌صورت لحظه‌ای و تجمیعی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3419856"/>
            <a:ext cx="4053535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1542471" y="3557016"/>
            <a:ext cx="73152" cy="62179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18119" y="3511296"/>
            <a:ext cx="359633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3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وضعیت مهارت‌ها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19" y="3858768"/>
            <a:ext cx="3596335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0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نمای تجمیعی SkillTag در سطح کلاس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4443984"/>
            <a:ext cx="4053535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1542471" y="4581144"/>
            <a:ext cx="73152" cy="6217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18119" y="4535424"/>
            <a:ext cx="359633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3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نقاط ضعف کلاس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19" y="4882896"/>
            <a:ext cx="3596335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lang="fa-IR" sz="10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شناسایی مهارت‌های ضعیف برای اقدام آموزشی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5596128"/>
            <a:ext cx="4053535" cy="777240"/>
          </a:xfrm>
          <a:prstGeom prst="roundRect">
            <a:avLst>
              <a:gd name="adj" fmla="val 14117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1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تحلیل فقط برای دانشجو نیست؛ مدرس نیز وضعیت یادگیری کلاس را می‌بیند.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تشخیص روند یادگیری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Learning Trend — Linear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14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6675120" cy="420624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1005840" y="4983479"/>
            <a:ext cx="5212079" cy="0"/>
          </a:xfrm>
          <a:prstGeom prst="line">
            <a:avLst/>
          </a:prstGeom>
          <a:ln w="19050">
            <a:solidFill>
              <a:srgbClr val="B9B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05840" y="1828799"/>
            <a:ext cx="0" cy="3154680"/>
          </a:xfrm>
          <a:prstGeom prst="line">
            <a:avLst/>
          </a:prstGeom>
          <a:ln w="19050">
            <a:solidFill>
              <a:srgbClr val="B9BC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06239" y="5093207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1000" b="1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آزمون‌های متوالی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783079"/>
            <a:ext cx="12801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1">
              <a:lnSpc>
                <a:spcPct val="100000"/>
              </a:lnSpc>
            </a:pPr>
            <a:r>
              <a:rPr lang="fa-IR" sz="1000" b="1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نمره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88720" y="3063239"/>
            <a:ext cx="2560320" cy="411480"/>
          </a:xfrm>
          <a:prstGeom prst="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1188720" y="2514599"/>
            <a:ext cx="2560319" cy="1828800"/>
          </a:xfrm>
          <a:prstGeom prst="line">
            <a:avLst/>
          </a:prstGeom>
          <a:ln w="38100">
            <a:solidFill>
              <a:srgbClr val="4338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22191" y="2377439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1">
              <a:lnSpc>
                <a:spcPct val="100000"/>
              </a:lnSpc>
            </a:pPr>
            <a:r>
              <a:rPr lang="fa-IR" sz="10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صعودی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188720" y="3154679"/>
            <a:ext cx="2560319" cy="137160"/>
          </a:xfrm>
          <a:prstGeom prst="line">
            <a:avLst/>
          </a:prstGeom>
          <a:ln w="38100">
            <a:solidFill>
              <a:srgbClr val="5B5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22191" y="3017519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1">
              <a:lnSpc>
                <a:spcPct val="100000"/>
              </a:lnSpc>
            </a:pPr>
            <a:r>
              <a:rPr lang="fa-IR" sz="10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پایدار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8720" y="2148839"/>
            <a:ext cx="2560319" cy="1737360"/>
          </a:xfrm>
          <a:prstGeom prst="line">
            <a:avLst/>
          </a:prstGeom>
          <a:ln w="38100">
            <a:solidFill>
              <a:srgbClr val="3B82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822191" y="3749039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1">
              <a:lnSpc>
                <a:spcPct val="100000"/>
              </a:lnSpc>
            </a:pPr>
            <a:r>
              <a:rPr lang="fa-IR" sz="1050" b="1">
                <a:solidFill>
                  <a:srgbClr val="3B82F6"/>
                </a:solidFill>
                <a:latin typeface="Vazirmatn"/>
                <a:ea typeface="Vazirmatn"/>
                <a:cs typeface="Vazirmatn"/>
              </a:rPr>
              <a:t>نزولی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303519"/>
            <a:ext cx="26517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نمونه نمرات آزمون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371600"/>
            <a:ext cx="4236415" cy="1051560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5240" y="1490472"/>
            <a:ext cx="3870655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fa-IR" sz="14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Linear Regression</a:t>
            </a:r>
          </a:p>
          <a:p>
            <a:pPr algn="r" rtl="1">
              <a:lnSpc>
                <a:spcPct val="130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روش: Least Squares بر نمرات آزمون‌های متوالی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2606040"/>
            <a:ext cx="4236415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1560759" y="2715768"/>
            <a:ext cx="64008" cy="54864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35240" y="2679192"/>
            <a:ext cx="382493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5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Slope &gt; +2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026664"/>
            <a:ext cx="3824935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صعودی — بهبود عملکرد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3502152"/>
            <a:ext cx="4236415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1560759" y="3611880"/>
            <a:ext cx="64008" cy="548640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35240" y="3575304"/>
            <a:ext cx="382493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-2 ≤ Slope ≤ +2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922776"/>
            <a:ext cx="3824935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پایدار — تغییر معنادار مشاهده نمی‌شود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4398264"/>
            <a:ext cx="4236415" cy="777240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1560759" y="4507992"/>
            <a:ext cx="64008" cy="54864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4471416"/>
            <a:ext cx="382493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250" b="1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Slope &lt; 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818888"/>
            <a:ext cx="3824935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نزولی — کاهش عملکرد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5349240"/>
            <a:ext cx="4236415" cy="566928"/>
          </a:xfrm>
          <a:prstGeom prst="roundRect">
            <a:avLst>
              <a:gd name="adj" fmla="val 16129"/>
            </a:avLst>
          </a:prstGeom>
          <a:solidFill>
            <a:srgbClr val="EEF0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کمتر از ۲ آزمون ← داده کافی نیست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توصیه دوره بر اساس شکاف مهارتی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Recommendation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15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55778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>
            <a:off x="502920" y="1371600"/>
            <a:ext cx="5577840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2648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5256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1399032"/>
            <a:ext cx="489204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43200"/>
            <a:ext cx="530352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صفحه پیشنهادهای شخصی‌سازی‌شده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5192" y="468172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66360"/>
            <a:ext cx="557784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پیشنهادها مستقیماً از تحلیل مهارتی دانشجو ساخته می‌شوند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371600"/>
            <a:ext cx="501091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Skill Analysis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9098280" y="1847088"/>
            <a:ext cx="164592" cy="118872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675120" y="1975104"/>
            <a:ext cx="501091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Weak Skills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098280" y="2450592"/>
            <a:ext cx="164592" cy="118872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675120" y="2578608"/>
            <a:ext cx="501091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Candidate Courses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098280" y="3054096"/>
            <a:ext cx="164592" cy="118872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675120" y="3182112"/>
            <a:ext cx="501091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Weighted Scoring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9098280" y="3657600"/>
            <a:ext cx="164592" cy="118872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675120" y="3785616"/>
            <a:ext cx="5010912" cy="45720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Recommended Courses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462272"/>
            <a:ext cx="5376672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3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Recommendation Score =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828032"/>
            <a:ext cx="1280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4338CA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901184"/>
            <a:ext cx="128016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16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0.45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5358384"/>
            <a:ext cx="1207008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8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Skill Gap Match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4828032"/>
            <a:ext cx="1280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B5FEF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80960" y="4901184"/>
            <a:ext cx="128016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160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0.25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7536" y="5358384"/>
            <a:ext cx="1207008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8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Level Progression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4828032"/>
            <a:ext cx="1280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052560" y="4901184"/>
            <a:ext cx="128016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160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0.20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89136" y="5358384"/>
            <a:ext cx="1207008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8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Category Affinity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24160" y="4828032"/>
            <a:ext cx="12801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B82F6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424160" y="4901184"/>
            <a:ext cx="1280160" cy="4572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1600" b="1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0.10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0736" y="5358384"/>
            <a:ext cx="1207008" cy="5303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850" b="1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Course Quality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6035040"/>
            <a:ext cx="5376672" cy="365760"/>
          </a:xfrm>
          <a:prstGeom prst="roundRect">
            <a:avLst>
              <a:gd name="adj" fmla="val 20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95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Score = 0.45×SkillGap + 0.25×Level + 0.20×Category + 0.10×Quality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آزمون تمرینی هدفمند بر اساس مهارت ضعیف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یکی از نوآوری‌های اصلی Mentorito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16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66928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950" b="1" spc="12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KEY INNOVATION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463040"/>
            <a:ext cx="31089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1. </a:t>
            </a:r>
            <a:r>
              <a:rPr lang="fa-IR" sz="11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Weak Skill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409944" y="2011680"/>
            <a:ext cx="164592" cy="237744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37760" y="2286000"/>
            <a:ext cx="31089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2. </a:t>
            </a:r>
            <a:r>
              <a:rPr lang="fa-IR" sz="11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انتخاب دوره و SkillTag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409944" y="2834640"/>
            <a:ext cx="164592" cy="237744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60" y="3108960"/>
            <a:ext cx="31089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3. </a:t>
            </a:r>
            <a:r>
              <a:rPr lang="fa-IR" sz="11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Filter Questions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409944" y="3657600"/>
            <a:ext cx="164592" cy="237744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937760" y="3931920"/>
            <a:ext cx="31089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4. </a:t>
            </a:r>
            <a:r>
              <a:rPr lang="fa-IR" sz="11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بررسی حداقل ۱۰ سؤال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1463040"/>
            <a:ext cx="31089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5. </a:t>
            </a:r>
            <a:r>
              <a:rPr lang="fa-IR" sz="11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Fisher-Yates Shuffle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2295144" y="2011680"/>
            <a:ext cx="164592" cy="237744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2286000"/>
            <a:ext cx="31089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6. </a:t>
            </a:r>
            <a:r>
              <a:rPr lang="fa-IR" sz="11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انتخاب ۱۰ سؤال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2295144" y="2834640"/>
            <a:ext cx="164592" cy="237744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2960" y="3108960"/>
            <a:ext cx="310896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7. </a:t>
            </a:r>
            <a:r>
              <a:rPr lang="fa-IR" sz="11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Practice Exam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2295144" y="3657600"/>
            <a:ext cx="164592" cy="237744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" y="3931920"/>
            <a:ext cx="3108960" cy="51206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1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8. Result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1463040"/>
            <a:ext cx="341071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 Same Side Corner Rectangle 28"/>
          <p:cNvSpPr/>
          <p:nvPr/>
        </p:nvSpPr>
        <p:spPr>
          <a:xfrm>
            <a:off x="8275320" y="1463040"/>
            <a:ext cx="3410712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85048" y="154533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31352" y="154533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77656" y="154533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23960" y="1490472"/>
            <a:ext cx="2724912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034540"/>
            <a:ext cx="3136392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انتخاب / شروع آزمون تمرینی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70464" y="317296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3657600"/>
            <a:ext cx="341071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 Same Side Corner Rectangle 36"/>
          <p:cNvSpPr/>
          <p:nvPr/>
        </p:nvSpPr>
        <p:spPr>
          <a:xfrm>
            <a:off x="8275320" y="3657600"/>
            <a:ext cx="3410712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85048" y="3739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531352" y="3739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677656" y="3739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23960" y="3685032"/>
            <a:ext cx="2724912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4229100"/>
            <a:ext cx="3136392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نتیجه آزمون تمرینی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570464" y="536752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5029200"/>
            <a:ext cx="7543800" cy="868680"/>
          </a:xfrm>
          <a:prstGeom prst="roundRect">
            <a:avLst>
              <a:gd name="adj" fmla="val 12631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4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تمرین دقیقاً برای همان مهارتی ایجاد می‌شود که دانشجو در آن ضعف دارد.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016752"/>
            <a:ext cx="754380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Fisher-Yates</a:t>
            </a:r>
            <a:r>
              <a:rPr lang="fa-IR" sz="105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 — بُر زدن تصادفی و بدون سوگیری پیش از انتخاب ۱۰ سؤال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از تحلیل تا بهبود؛ یک چرخه بسته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Practice Exam فقط یک Quiz معمولی نیست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17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16007" y="1828800"/>
            <a:ext cx="1572768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آزمون اصلی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9786823" y="2048256"/>
            <a:ext cx="274320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14055" y="1828800"/>
            <a:ext cx="1572768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Skill Analysis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7884871" y="2048256"/>
            <a:ext cx="274320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12103" y="1828800"/>
            <a:ext cx="1572768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Weak Skill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5982919" y="2048256"/>
            <a:ext cx="274320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10151" y="1828800"/>
            <a:ext cx="1572768" cy="65836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Practice Exam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4080967" y="2048256"/>
            <a:ext cx="274320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508199" y="1828800"/>
            <a:ext cx="1572768" cy="65836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New Result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2179015" y="2048256"/>
            <a:ext cx="274320" cy="237744"/>
          </a:xfrm>
          <a:prstGeom prst="left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06247" y="1828800"/>
            <a:ext cx="1572768" cy="6583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A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0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Updated Status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92631" y="2487168"/>
            <a:ext cx="0" cy="256032"/>
          </a:xfrm>
          <a:prstGeom prst="line">
            <a:avLst/>
          </a:prstGeom>
          <a:ln w="15875">
            <a:solidFill>
              <a:srgbClr val="636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392631" y="2743200"/>
            <a:ext cx="9509760" cy="0"/>
          </a:xfrm>
          <a:prstGeom prst="line">
            <a:avLst/>
          </a:prstGeom>
          <a:ln w="15875">
            <a:solidFill>
              <a:srgbClr val="636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902391" y="2523744"/>
            <a:ext cx="0" cy="219456"/>
          </a:xfrm>
          <a:prstGeom prst="line">
            <a:avLst/>
          </a:prstGeom>
          <a:ln w="15875">
            <a:solidFill>
              <a:srgbClr val="6366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Up Arrow 26"/>
          <p:cNvSpPr/>
          <p:nvPr/>
        </p:nvSpPr>
        <p:spPr>
          <a:xfrm>
            <a:off x="10810951" y="2505456"/>
            <a:ext cx="182880" cy="201168"/>
          </a:xfrm>
          <a:prstGeom prst="up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0" y="2505456"/>
            <a:ext cx="384048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نتایج جدید دوباره وارد تحلیل می‌شوند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3017520"/>
            <a:ext cx="42062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 Same Side Corner Rectangle 29"/>
          <p:cNvSpPr/>
          <p:nvPr/>
        </p:nvSpPr>
        <p:spPr>
          <a:xfrm>
            <a:off x="3977639" y="3017520"/>
            <a:ext cx="4206240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087368" y="3099815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233672" y="3099815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379976" y="3099815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79" y="3044951"/>
            <a:ext cx="3520439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749039"/>
            <a:ext cx="393192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نتیجه آزمون تمرینی — Updated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68312" y="504748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01752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200400"/>
            <a:ext cx="2834640" cy="2011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چه کسی؟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دانشجو پس از تحلیل</a:t>
            </a:r>
          </a:p>
          <a:p>
            <a:pPr algn="r" rtl="1">
              <a:lnSpc>
                <a:spcPct val="150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چه کاری؟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تمرین هدفمند روی Weak Skill</a:t>
            </a:r>
          </a:p>
          <a:p>
            <a:pPr algn="r" rtl="1">
              <a:lnSpc>
                <a:spcPct val="150000"/>
              </a:lnSpc>
            </a:pPr>
            <a:r>
              <a:rPr lang="fa-IR" sz="11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خروجی؟ </a:t>
            </a:r>
            <a:r>
              <a:rPr lang="fa-IR" sz="115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نتیجه جدید و به‌روزرسانی وضعیت یادگیری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66760" y="3017520"/>
            <a:ext cx="3319272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49640" y="3200400"/>
            <a:ext cx="2953512" cy="2011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داده‌های ارزیابی دوباره وارد چرخه یادگیری می‌شوند:</a:t>
            </a:r>
          </a:p>
          <a:p>
            <a:pPr algn="r" rtl="1">
              <a:lnSpc>
                <a:spcPct val="150000"/>
              </a:lnSpc>
            </a:pPr>
            <a:r>
              <a:rPr lang="fa-IR" sz="110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Result → Analytics → Next Action</a:t>
            </a:r>
          </a:p>
          <a:p>
            <a:pPr algn="r" rtl="1">
              <a:lnSpc>
                <a:spcPct val="150000"/>
              </a:lnSpc>
            </a:pPr>
            <a:r>
              <a:rPr lang="fa-IR" sz="11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ارزش اصلی: تبدیل نمره به «اقدام بعدی»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623560"/>
            <a:ext cx="11183112" cy="621792"/>
          </a:xfrm>
          <a:prstGeom prst="roundRect">
            <a:avLst>
              <a:gd name="adj" fmla="val 17647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3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ارزیابی ← تحلیل ← اقدام ← ارزیابی دوباره؛ یک حلقه بسته یادگیری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تعامل و چت بلادرنگ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Real-Time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18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371600"/>
            <a:ext cx="7223760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9CCF2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>
            <a:off x="502920" y="1371600"/>
            <a:ext cx="7223760" cy="274320"/>
          </a:xfrm>
          <a:prstGeom prst="round2SameRect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2648" y="1453896"/>
            <a:ext cx="91440" cy="91440"/>
          </a:xfrm>
          <a:prstGeom prst="ellipse">
            <a:avLst/>
          </a:prstGeom>
          <a:solidFill>
            <a:srgbClr val="C9C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58952" y="1453896"/>
            <a:ext cx="91440" cy="91440"/>
          </a:xfrm>
          <a:prstGeom prst="ellipse">
            <a:avLst/>
          </a:prstGeom>
          <a:solidFill>
            <a:srgbClr val="A5A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05256" y="1453896"/>
            <a:ext cx="91440" cy="91440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1399032"/>
            <a:ext cx="653796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8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91839"/>
            <a:ext cx="694944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fa-IR" sz="125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جای اسکرین‌شات واقعی</a:t>
            </a:r>
          </a:p>
          <a:p>
            <a:pPr algn="ctr" rtl="1">
              <a:lnSpc>
                <a:spcPct val="115000"/>
              </a:lnSpc>
            </a:pPr>
            <a:r>
              <a:rPr lang="fa-IR" sz="11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صفحه چت Mentorito — گفت‌وگوی بلادرنگ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11112" y="5779008"/>
            <a:ext cx="969264" cy="237744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8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Priority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371600"/>
            <a:ext cx="3687775" cy="621792"/>
          </a:xfrm>
          <a:prstGeom prst="roundRect">
            <a:avLst>
              <a:gd name="adj" fmla="val 14705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React Client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762591" y="2011680"/>
            <a:ext cx="164592" cy="219456"/>
          </a:xfrm>
          <a:prstGeom prst="downArrow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01000" y="2340864"/>
            <a:ext cx="3687775" cy="621792"/>
          </a:xfrm>
          <a:prstGeom prst="roundRect">
            <a:avLst>
              <a:gd name="adj" fmla="val 14705"/>
            </a:avLst>
          </a:prstGeom>
          <a:solidFill>
            <a:srgbClr val="5B5FEF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762591" y="2980944"/>
            <a:ext cx="164592" cy="219456"/>
          </a:xfrm>
          <a:prstGeom prst="downArrow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01000" y="3310128"/>
            <a:ext cx="3687775" cy="621792"/>
          </a:xfrm>
          <a:prstGeom prst="roundRect">
            <a:avLst>
              <a:gd name="adj" fmla="val 14705"/>
            </a:avLst>
          </a:prstGeom>
          <a:solidFill>
            <a:srgbClr val="6366F1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SSE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62591" y="3950208"/>
            <a:ext cx="164592" cy="219456"/>
          </a:xfrm>
          <a:prstGeom prst="downArrow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01000" y="4279392"/>
            <a:ext cx="3687775" cy="621792"/>
          </a:xfrm>
          <a:prstGeom prst="roundRect">
            <a:avLst>
              <a:gd name="adj" fmla="val 14705"/>
            </a:avLst>
          </a:prstGeom>
          <a:solidFill>
            <a:srgbClr val="3B82F6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Real-Time Events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5349240"/>
            <a:ext cx="3687775" cy="777240"/>
          </a:xfrm>
          <a:prstGeom prst="roundRect">
            <a:avLst>
              <a:gd name="adj" fmla="val 14117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20000"/>
              </a:lnSpc>
            </a:pP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ارتباط بلادرنگ با </a:t>
            </a:r>
            <a:r>
              <a:rPr lang="fa-IR" sz="115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Server-Sent Events</a:t>
            </a:r>
            <a:r>
              <a:rPr lang="fa-IR" sz="115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 و مدیریت اتصال‌های فعال درون Backend پیاده‌سازی شده است.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مهم‌ترین دستاوردهای پیاده‌سازی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Technical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19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" y="137160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616" y="137160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39496" y="1645920"/>
            <a:ext cx="438912" cy="438912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1664208"/>
            <a:ext cx="1801368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3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2148840"/>
            <a:ext cx="2331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lang="fa-IR" sz="10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NestJS + TypeScript + Prisma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82696" y="137160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82696" y="137160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65576" y="1645920"/>
            <a:ext cx="438912" cy="438912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928" y="1664208"/>
            <a:ext cx="1801368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30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2148840"/>
            <a:ext cx="2331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lang="fa-IR" sz="10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React 19 + TypeScript + MUI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37160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08776" y="137160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91656" y="1645920"/>
            <a:ext cx="438912" cy="438912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1664208"/>
            <a:ext cx="1801368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30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2148840"/>
            <a:ext cx="2331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lang="fa-IR" sz="10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Microsoft SQL Server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34856" y="137160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34856" y="137160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317736" y="1645920"/>
            <a:ext cx="438912" cy="438912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3B82F6"/>
                </a:solidFill>
                <a:latin typeface="Vazirmatn"/>
                <a:ea typeface="Vazirmatn"/>
                <a:cs typeface="Vazirmatn"/>
              </a:rPr>
              <a:t>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1664208"/>
            <a:ext cx="1801368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300" b="1">
                <a:solidFill>
                  <a:srgbClr val="3B82F6"/>
                </a:solidFill>
                <a:latin typeface="Segoe UI"/>
                <a:ea typeface="Segoe UI"/>
                <a:cs typeface="Segoe UI"/>
              </a:rPr>
              <a:t>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2148840"/>
            <a:ext cx="2331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lang="fa-IR" sz="10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JWT + Refresh Token + Role-Based Access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19656" y="32461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819656" y="324612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002536" y="3520439"/>
            <a:ext cx="438912" cy="438912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32888" y="3538727"/>
            <a:ext cx="1801368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300" b="1">
                <a:solidFill>
                  <a:srgbClr val="4338CA"/>
                </a:solidFill>
                <a:latin typeface="Segoe UI"/>
                <a:ea typeface="Segoe UI"/>
                <a:cs typeface="Segoe UI"/>
              </a:rPr>
              <a:t>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02536" y="4023359"/>
            <a:ext cx="2331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lang="fa-IR" sz="10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Qwen3-4B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45736" y="32461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745736" y="324612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928616" y="3520439"/>
            <a:ext cx="438912" cy="438912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58968" y="3538727"/>
            <a:ext cx="1801368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30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Real-Time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28616" y="4023359"/>
            <a:ext cx="2331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lang="fa-IR" sz="10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SSE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71816" y="3246120"/>
            <a:ext cx="269748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671816" y="3246120"/>
            <a:ext cx="2697480" cy="12801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854696" y="3520439"/>
            <a:ext cx="438912" cy="438912"/>
          </a:xfrm>
          <a:prstGeom prst="ellipse">
            <a:avLst/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048" y="3538727"/>
            <a:ext cx="1801368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130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Intelligent Learning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54696" y="4023359"/>
            <a:ext cx="2331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15000"/>
              </a:lnSpc>
            </a:pPr>
            <a:r>
              <a:rPr lang="fa-IR" sz="1000" b="0">
                <a:solidFill>
                  <a:srgbClr val="17172B"/>
                </a:solidFill>
                <a:latin typeface="Segoe UI"/>
                <a:ea typeface="Segoe UI"/>
                <a:cs typeface="Segoe UI"/>
              </a:rPr>
              <a:t>SkillTag + Analytics + Recommendation + Practice Exams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19656" y="5257800"/>
            <a:ext cx="8549640" cy="566928"/>
          </a:xfrm>
          <a:prstGeom prst="roundRect">
            <a:avLst>
              <a:gd name="adj" fmla="val 19354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35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Mentorito قابلیت‌های فنی و هوشمند را در یک معماری یکپارچه پیاده‌سازی کرده است.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نتیجه‌گیری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چهار دستاورد اصلی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20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3815" y="1463040"/>
            <a:ext cx="539496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560759" y="146304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8135" y="1664208"/>
            <a:ext cx="1280160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3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8135" y="1737360"/>
            <a:ext cx="484632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LMS یکپارچه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8135" y="2359152"/>
            <a:ext cx="4846320" cy="7315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12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مدیریت دوره، محتوا، آزمون و کاربران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463040"/>
            <a:ext cx="539496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69864" y="146304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1664208"/>
            <a:ext cx="1280160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3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737360"/>
            <a:ext cx="484632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AI Question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359152"/>
            <a:ext cx="4846320" cy="7315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12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کاهش بار تولید سؤال برای مدرس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3815" y="3383280"/>
            <a:ext cx="539496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560759" y="338328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8135" y="3584448"/>
            <a:ext cx="1280160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3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8135" y="3657600"/>
            <a:ext cx="484632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Skill-Level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8135" y="4279392"/>
            <a:ext cx="4846320" cy="7315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12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تحلیل عملکرد فراتر از نمره کلی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83280"/>
            <a:ext cx="539496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769864" y="3383280"/>
            <a:ext cx="128016" cy="17373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584448"/>
            <a:ext cx="1280160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3000" b="1">
                <a:solidFill>
                  <a:srgbClr val="D6D8F8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484632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Personalized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79392"/>
            <a:ext cx="4846320" cy="7315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1200" b="0">
                <a:solidFill>
                  <a:srgbClr val="55587A"/>
                </a:solidFill>
                <a:latin typeface="Vazirmatn"/>
                <a:ea typeface="Vazirmatn"/>
                <a:cs typeface="Vazirmatn"/>
              </a:rPr>
              <a:t>توصیه دوره + آزمون تمرینی هدفمند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440680"/>
            <a:ext cx="9994392" cy="868680"/>
          </a:xfrm>
          <a:prstGeom prst="roundRect">
            <a:avLst>
              <a:gd name="adj" fmla="val 12631"/>
            </a:avLst>
          </a:prstGeom>
          <a:solidFill>
            <a:srgbClr val="4338CA"/>
          </a:solidFill>
          <a:ln>
            <a:noFill/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15000"/>
              </a:lnSpc>
            </a:pPr>
            <a:r>
              <a:rPr lang="fa-IR" sz="17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Mentorito ارزیابی را به تحلیل و سپس به اقدام آموزشی تبدیل می‌کند.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475720" y="164592"/>
            <a:ext cx="109728" cy="109728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40312" y="1645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10835640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27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محدودیت‌ها و مسیر توسعه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"/>
            <a:ext cx="1083564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250" b="0">
                <a:solidFill>
                  <a:srgbClr val="6366F1"/>
                </a:solidFill>
                <a:latin typeface="Vazirmatn"/>
                <a:ea typeface="Vazirmatn"/>
                <a:cs typeface="Vazirmatn"/>
              </a:rPr>
              <a:t>Backup — در صورت وجود زمان نمایش داده شود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7624" y="859536"/>
            <a:ext cx="658368" cy="50292"/>
          </a:xfrm>
          <a:prstGeom prst="roundRect">
            <a:avLst>
              <a:gd name="adj" fmla="val 50000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455664"/>
            <a:ext cx="12191695" cy="10972"/>
          </a:xfrm>
          <a:prstGeom prst="rect">
            <a:avLst/>
          </a:prstGeom>
          <a:solidFill>
            <a:srgbClr val="E2E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lang="fa-IR" sz="950" b="1">
                <a:solidFill>
                  <a:srgbClr val="5B5FEF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047" y="6501383"/>
            <a:ext cx="365760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9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[نام دانشگاه]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095" y="6501383"/>
            <a:ext cx="201168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fa-IR" sz="950" b="1">
                <a:solidFill>
                  <a:srgbClr val="6366F1"/>
                </a:solidFill>
                <a:latin typeface="Segoe UI"/>
                <a:ea typeface="Segoe UI"/>
                <a:cs typeface="Segoe UI"/>
              </a:rPr>
              <a:t>21 / 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5379415" cy="44805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E4E6FB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79415" cy="475488"/>
          </a:xfrm>
          <a:prstGeom prst="roundRect">
            <a:avLst>
              <a:gd name="adj" fmla="val 23076"/>
            </a:avLst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1490472"/>
            <a:ext cx="501365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4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محدودیت‌های نسخه فعلی</a:t>
            </a:r>
          </a:p>
        </p:txBody>
      </p:sp>
      <p:sp>
        <p:nvSpPr>
          <p:cNvPr id="16" name="Oval 15"/>
          <p:cNvSpPr/>
          <p:nvPr/>
        </p:nvSpPr>
        <p:spPr>
          <a:xfrm>
            <a:off x="11304727" y="2203703"/>
            <a:ext cx="128016" cy="128016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121408"/>
            <a:ext cx="4602175" cy="868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fa-IR" sz="12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کیفیت سؤال AI وابسته به مدل، Prompt و بررسی انسانی است.</a:t>
            </a:r>
          </a:p>
        </p:txBody>
      </p:sp>
      <p:sp>
        <p:nvSpPr>
          <p:cNvPr id="18" name="Oval 17"/>
          <p:cNvSpPr/>
          <p:nvPr/>
        </p:nvSpPr>
        <p:spPr>
          <a:xfrm>
            <a:off x="11304727" y="3163824"/>
            <a:ext cx="128016" cy="128016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081528"/>
            <a:ext cx="4602175" cy="868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fa-IR" sz="12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چت بلادرنگ فعلی برای زیرساخت توزیع‌شده چندسروری نیازمند لایه هماهنگ‌کننده مشترک است.</a:t>
            </a:r>
          </a:p>
        </p:txBody>
      </p:sp>
      <p:sp>
        <p:nvSpPr>
          <p:cNvPr id="20" name="Oval 19"/>
          <p:cNvSpPr/>
          <p:nvPr/>
        </p:nvSpPr>
        <p:spPr>
          <a:xfrm>
            <a:off x="11304727" y="4123944"/>
            <a:ext cx="128016" cy="128016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041648"/>
            <a:ext cx="4602175" cy="8686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fa-IR" sz="1200" b="0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الگوریتم توصیه فعلی مبتنی بر امتیازدهی شفاف و وزن‌دار است.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138928"/>
            <a:ext cx="4922215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fa-IR" sz="1100" b="1">
                <a:solidFill>
                  <a:srgbClr val="5B5FEF"/>
                </a:solidFill>
                <a:latin typeface="Vazirmatn"/>
                <a:ea typeface="Vazirmatn"/>
                <a:cs typeface="Vazirmatn"/>
              </a:rPr>
              <a:t>این محدودیت‌ها شفاف مستند شده‌اند و مسیر بهبود مشخصی دارند.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1417320"/>
            <a:ext cx="5379415" cy="4480560"/>
          </a:xfrm>
          <a:prstGeom prst="roundRect">
            <a:avLst>
              <a:gd name="adj" fmla="val 2448"/>
            </a:avLst>
          </a:prstGeom>
          <a:solidFill>
            <a:srgbClr val="EEF0FF"/>
          </a:solidFill>
          <a:ln w="12700">
            <a:solidFill>
              <a:srgbClr val="6366F1"/>
            </a:solidFill>
          </a:ln>
          <a:effectLst>
            <a:outerShdw blurRad="91440" dist="45720" dir="5400000" rotWithShape="0">
              <a:srgbClr val="6366F1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2920" y="1417320"/>
            <a:ext cx="5379415" cy="475488"/>
          </a:xfrm>
          <a:prstGeom prst="roundRect">
            <a:avLst>
              <a:gd name="adj" fmla="val 23076"/>
            </a:avLst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1490472"/>
            <a:ext cx="5013655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Future Work</a:t>
            </a:r>
            <a:r>
              <a:rPr lang="fa-IR" sz="14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 — توسعه آینده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2148840"/>
            <a:ext cx="483077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استفاده از مدل‌های زبانی بزرگ‌تر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2898648"/>
            <a:ext cx="483077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بهبود الگوریتم Recommendation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648456"/>
            <a:ext cx="483077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توسعه تحلیل‌های یادگیری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398264"/>
            <a:ext cx="4830775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200" b="1">
                <a:solidFill>
                  <a:srgbClr val="17172B"/>
                </a:solidFill>
                <a:latin typeface="Vazirmatn"/>
                <a:ea typeface="Vazirmatn"/>
                <a:cs typeface="Vazirmatn"/>
              </a:rPr>
              <a:t>توسعه قابلیت‌های شخصی‌سازی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30368"/>
            <a:ext cx="4830775" cy="5029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050" b="1">
                <a:solidFill>
                  <a:srgbClr val="4338CA"/>
                </a:solidFill>
                <a:latin typeface="Vazirmatn"/>
                <a:ea typeface="Vazirmatn"/>
                <a:cs typeface="Vazirmatn"/>
              </a:rPr>
              <a:t>واضحاً جدا از قابلیت‌های فعلی — Future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53328"/>
            <a:ext cx="11183112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1000" b="0">
                <a:solidFill>
                  <a:srgbClr val="8A8FB8"/>
                </a:solidFill>
                <a:latin typeface="Vazirmatn"/>
                <a:ea typeface="Vazirmatn"/>
                <a:cs typeface="Vazirmatn"/>
              </a:rPr>
              <a:t>اسلاید Backup — در صورت کمبود زمان، ارائه با اسلاید نتیجه‌گیری پایان می‌یابد.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1B4B"/>
            </a:gs>
            <a:gs pos="100000">
              <a:srgbClr val="4338CA"/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-1280160"/>
            <a:ext cx="4023360" cy="4023360"/>
          </a:xfrm>
          <a:prstGeom prst="ellipse">
            <a:avLst/>
          </a:prstGeom>
          <a:noFill/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noFill/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5029200"/>
            <a:ext cx="219456" cy="219456"/>
          </a:xfrm>
          <a:prstGeom prst="ellipse">
            <a:avLst/>
          </a:prstGeom>
          <a:solidFill>
            <a:srgbClr val="5B5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607040" y="4297680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247120" y="539496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43032" cy="9144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fa-IR" sz="48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ممنون از توجه شما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55767" y="2926080"/>
            <a:ext cx="1280160" cy="640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0543032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4000" b="1">
                <a:solidFill>
                  <a:srgbClr val="C7C9F8"/>
                </a:solidFill>
                <a:latin typeface="Segoe UI"/>
                <a:ea typeface="Segoe UI"/>
                <a:cs typeface="Segoe UI"/>
              </a:rPr>
              <a:t>Mentorito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61407" y="4297680"/>
            <a:ext cx="2468880" cy="65836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9B9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45720" bIns="9144" rtlCol="0" anchor="ctr"/>
          <a:lstStyle/>
          <a:p>
            <a:pPr algn="ctr" rtl="1">
              <a:lnSpc>
                <a:spcPct val="100000"/>
              </a:lnSpc>
            </a:pPr>
            <a:r>
              <a:rPr lang="fa-IR" sz="1600" b="1">
                <a:solidFill>
                  <a:srgbClr val="FFFFFF"/>
                </a:solidFill>
                <a:latin typeface="Vazirmatn"/>
                <a:ea typeface="Vazirmatn"/>
                <a:cs typeface="Vazirmatn"/>
              </a:rPr>
              <a:t>پرسش و پاسخ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10543032" cy="3657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lang="fa-IR" sz="1050" b="0" spc="120">
                <a:solidFill>
                  <a:srgbClr val="8F93D8"/>
                </a:solidFill>
                <a:latin typeface="Segoe UI"/>
                <a:ea typeface="Segoe UI"/>
                <a:cs typeface="Segoe UI"/>
              </a:rPr>
              <a:t>AI-Powered Learning  •  Skill Analytics  •  Personalized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1817</Words>
  <Application>Microsoft Office PowerPoint</Application>
  <PresentationFormat>Widescreen</PresentationFormat>
  <Paragraphs>508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Segoe UI</vt:lpstr>
      <vt:lpstr>Times New Roman</vt:lpstr>
      <vt:lpstr>Vazirmatn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faeze dalili</cp:lastModifiedBy>
  <cp:revision>4</cp:revision>
  <dcterms:created xsi:type="dcterms:W3CDTF">2013-01-27T09:14:16Z</dcterms:created>
  <dcterms:modified xsi:type="dcterms:W3CDTF">2026-09-07T15:00:46Z</dcterms:modified>
  <cp:category/>
</cp:coreProperties>
</file>