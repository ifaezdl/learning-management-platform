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F38C2"/>
    <a:srgbClr val="2A27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1B4B"/>
            </a:gs>
            <a:gs pos="100000">
              <a:srgbClr val="4338CA"/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66960" y="-1097280"/>
            <a:ext cx="3840480" cy="3840480"/>
          </a:xfrm>
          <a:prstGeom prst="ellipse">
            <a:avLst/>
          </a:prstGeom>
          <a:noFill/>
          <a:ln w="1524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15600" y="-548640"/>
            <a:ext cx="2743200" cy="2743200"/>
          </a:xfrm>
          <a:prstGeom prst="ellipse">
            <a:avLst/>
          </a:prstGeom>
          <a:noFill/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463040" y="4480560"/>
            <a:ext cx="3291840" cy="3291840"/>
          </a:xfrm>
          <a:prstGeom prst="ellipse">
            <a:avLst/>
          </a:prstGeom>
          <a:noFill/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646920" y="4224528"/>
            <a:ext cx="292608" cy="29260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561320" y="4983480"/>
            <a:ext cx="219456" cy="219456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384280" y="3794760"/>
            <a:ext cx="182880" cy="182880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869680" y="5120640"/>
            <a:ext cx="164592" cy="16459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1795760" y="4709160"/>
            <a:ext cx="237744" cy="237744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" name="Connector 10"/>
          <p:cNvCxnSpPr/>
          <p:nvPr/>
        </p:nvCxnSpPr>
        <p:spPr>
          <a:xfrm>
            <a:off x="9793224" y="4370832"/>
            <a:ext cx="877824" cy="722376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0671048" y="3886200"/>
            <a:ext cx="804672" cy="1207008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793224" y="4370832"/>
            <a:ext cx="2084832" cy="457200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1475720" y="3886200"/>
            <a:ext cx="402336" cy="941832"/>
          </a:xfrm>
          <a:prstGeom prst="line">
            <a:avLst/>
          </a:prstGeom>
          <a:ln w="1270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822960" y="658368"/>
            <a:ext cx="960120" cy="9601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Multidocument 15"/>
          <p:cNvSpPr/>
          <p:nvPr/>
        </p:nvSpPr>
        <p:spPr>
          <a:xfrm>
            <a:off x="987552" y="868680"/>
            <a:ext cx="640080" cy="530352"/>
          </a:xfrm>
          <a:prstGeom prst="flowChartMultidocument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20240" y="868680"/>
            <a:ext cx="457200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1200" b="1" spc="320" dirty="0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MENTORITO LMS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148840"/>
            <a:ext cx="10515600" cy="13716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800" b="1" dirty="0">
                <a:solidFill>
                  <a:srgbClr val="2A276B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3584448"/>
            <a:ext cx="1234440" cy="68580"/>
          </a:xfrm>
          <a:prstGeom prst="roundRect">
            <a:avLst>
              <a:gd name="adj" fmla="val 49333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3794760"/>
            <a:ext cx="10607040" cy="31085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900" b="1" dirty="0">
                <a:solidFill>
                  <a:srgbClr val="5F38C2"/>
                </a:solidFill>
                <a:latin typeface="Vazirmatn"/>
                <a:ea typeface="Vazirmatn"/>
                <a:cs typeface="Vazirmatn"/>
              </a:rPr>
              <a:t>سامانه مدیریت یادگیری هوشمند با تحلیل مهارتی و قابلیت‌های مبتنی بر هوش مصنوعی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242816"/>
            <a:ext cx="1060704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1250" b="0" spc="60" dirty="0">
                <a:solidFill>
                  <a:srgbClr val="A9AEEF"/>
                </a:solidFill>
                <a:latin typeface="Segoe UI"/>
                <a:ea typeface="Segoe UI"/>
                <a:cs typeface="Segoe UI"/>
              </a:rPr>
              <a:t>AI-Powered Question Generation  •  Skill-Level Analytics  •  Personalized Learning Path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257800"/>
            <a:ext cx="237744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پروژه کارشناسی مهندسی نرم‌افزار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5257800"/>
            <a:ext cx="1874519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دانشجو: [نام دانشجو]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04104" y="525780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استاد راهنما: [نام استاد]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0376" y="5257800"/>
            <a:ext cx="155448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99448" y="5257800"/>
            <a:ext cx="1234440" cy="420624"/>
          </a:xfrm>
          <a:prstGeom prst="roundRect">
            <a:avLst>
              <a:gd name="adj" fmla="val 50000"/>
            </a:avLst>
          </a:prstGeom>
          <a:solidFill>
            <a:srgbClr val="2A276B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9144" rIns="36576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0">
                <a:solidFill>
                  <a:srgbClr val="E4E5FB"/>
                </a:solidFill>
                <a:latin typeface="Vazirmatn"/>
                <a:ea typeface="Vazirmatn"/>
                <a:cs typeface="Vazirmatn"/>
              </a:rPr>
              <a:t>[سال تحصیلی]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 dirty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مسئله و ضرورت پروژه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9494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چرا این پروژه؟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95097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 dirty="0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15696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dirty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دانشگاه فنی حرفه ای شریعتی </a:t>
            </a:r>
            <a:endParaRPr lang="fa-IR" sz="900" b="0" dirty="0">
              <a:solidFill>
                <a:srgbClr val="8A8FB8"/>
              </a:solidFill>
              <a:latin typeface="Vazirmatn"/>
              <a:ea typeface="Vazirmatn"/>
              <a:cs typeface="Vazirmatn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02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6627" y="1417320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06627" y="1417320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35227" y="1700784"/>
            <a:ext cx="10972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2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9507" y="1874519"/>
            <a:ext cx="288036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lang="fa-IR" sz="15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9507" y="2743200"/>
            <a:ext cx="2880360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تولید تعداد زیادی سؤال استاندارد برای مدرس زمان‌بر است.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72787" y="1417320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472787" y="1417320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01387" y="1700784"/>
            <a:ext cx="10972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2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5667" y="1874519"/>
            <a:ext cx="288036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lang="fa-IR" sz="15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سطح مهارت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5667" y="2743200"/>
            <a:ext cx="2880360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نمره کلی آزمون مشخص نمی‌کند دانشجو دقیقاً در کدام مهارت ضعف دارد.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8947" y="1417320"/>
            <a:ext cx="3246120" cy="233172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038947" y="1417320"/>
            <a:ext cx="3246120" cy="12801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67547" y="1700784"/>
            <a:ext cx="109728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2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0۳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1827" y="1874519"/>
            <a:ext cx="288036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5000"/>
              </a:lnSpc>
            </a:pPr>
            <a:r>
              <a:rPr lang="fa-IR" sz="15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نبود ارتباط تحلیل با آموزش بعدی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1827" y="2743200"/>
            <a:ext cx="2880360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نتیجه ارزیابی باید بتواند به تصمیم آموزشی بعدی منجر شود.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242910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Down Arrow 28"/>
          <p:cNvSpPr/>
          <p:nvPr/>
        </p:nvSpPr>
        <p:spPr>
          <a:xfrm>
            <a:off x="599526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Down Arrow 29"/>
          <p:cNvSpPr/>
          <p:nvPr/>
        </p:nvSpPr>
        <p:spPr>
          <a:xfrm>
            <a:off x="9561423" y="3913632"/>
            <a:ext cx="201168" cy="36576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06627" y="4434840"/>
            <a:ext cx="10378439" cy="566928"/>
          </a:xfrm>
          <a:prstGeom prst="roundRect">
            <a:avLst>
              <a:gd name="adj" fmla="val 1935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— اتصال ارزیابی، تحلیل مهارتی و شخصی‌سازی یادگیری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6627" y="5257800"/>
            <a:ext cx="10378439" cy="777240"/>
          </a:xfrm>
          <a:prstGeom prst="roundRect">
            <a:avLst>
              <a:gd name="adj" fmla="val 14117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20000"/>
              </a:lnSpc>
            </a:pPr>
            <a:r>
              <a:rPr lang="fa-IR" sz="14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مسئله اصلی: </a:t>
            </a: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چگونه می‌توان ارزیابی، تحلیل مهارتی و شخصی‌سازی یادگیری را در یک سامانه واحد به هم متصل کرد؟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اهداف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شش هدف اصلی سامانه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03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14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83270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6315" y="15819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4603" y="21305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مدیریت یکپارچه دوره و محتوای آموزشی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603" y="27889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Course &amp; Content Management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562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67318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36795" y="15819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5083" y="21305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برگزاری آزمون و ارزیابی دانشجو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5083" y="27889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Question Bank + Exam Engine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76107" y="14173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513667" y="16459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7275" y="15819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95563" y="21305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با کمک هوش مصنوعی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5563" y="27889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AI Question Generation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14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83270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6315" y="36393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4603" y="41879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در سطح SkillTag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4603" y="48463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Skill-Level Analytics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3562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67318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36795" y="36393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5083" y="41879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آموزشی مبتنی بر وضعیت یادگیرنده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5083" y="48463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Recommendation Engine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76107" y="3474720"/>
            <a:ext cx="352044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513667" y="3703320"/>
            <a:ext cx="82296" cy="12801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77275" y="3639312"/>
            <a:ext cx="8229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2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5563" y="4187952"/>
            <a:ext cx="3017520" cy="6858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ارائه آزمون‌های تمرینی هدفمند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5563" y="4846320"/>
            <a:ext cx="3017520" cy="29260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000" b="0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Targeted Practice Exams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5147" y="5349240"/>
            <a:ext cx="11201400" cy="640080"/>
          </a:xfrm>
          <a:prstGeom prst="roundRect">
            <a:avLst>
              <a:gd name="adj" fmla="val 17142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4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هدف نهایی: تبدیل داده‌های آموزشی به تصمیم‌های قابل استفاده برای یادگیری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بررسی سامانه‌های موجود و شکاف عملکردی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تحلیل تطبیقی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04 / 22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325880"/>
          <a:ext cx="11185855" cy="4160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1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Vazirmatn"/>
                          <a:cs typeface="Vazirmatn"/>
                        </a:rPr>
                        <a:t>معیار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Moodle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Google Classroom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Coursera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edX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LMS فارسی</a:t>
                      </a:r>
                    </a:p>
                  </a:txBody>
                  <a:tcPr anchor="ctr">
                    <a:solidFill>
                      <a:srgbClr val="2A276B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Mentorito</a:t>
                      </a:r>
                    </a:p>
                  </a:txBody>
                  <a:tcPr anchor="ctr">
                    <a:solidFill>
                      <a:srgbClr val="5B5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مدیریت دوره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آزمون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تولید سؤال با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Skill-Level Analysis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Skill Gap Detection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Recommendation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2F3F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6433">
                <a:tc>
                  <a:txBody>
                    <a:bodyPr/>
                    <a:lstStyle/>
                    <a:p>
                      <a:pPr algn="ctr" rtl="1"/>
                      <a:r>
                        <a:rPr lang="fa-IR" sz="1150" b="1">
                          <a:solidFill>
                            <a:srgbClr val="17172B"/>
                          </a:solidFill>
                          <a:latin typeface="Vazirmatn"/>
                          <a:ea typeface="Vazirmatn"/>
                          <a:cs typeface="Vazirmatn"/>
                        </a:rPr>
                        <a:t>Real-Time Chat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B4B6D8"/>
                          </a:solidFill>
                          <a:latin typeface="Segoe UI"/>
                          <a:ea typeface="Segoe UI"/>
                          <a:cs typeface="Segoe UI"/>
                        </a:rPr>
                        <a:t>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250" b="1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✓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502920" y="5650992"/>
            <a:ext cx="11185855" cy="713232"/>
          </a:xfrm>
          <a:prstGeom prst="roundRect">
            <a:avLst>
              <a:gd name="adj" fmla="val 15384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تفاوت Mentorito در قابلیت‌های پایه LMS نیست؛ بلکه در </a:t>
            </a:r>
            <a:r>
              <a:rPr lang="fa-IR" sz="13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اتصال قابلیت‌های هوشمند به یک چرخه آموزشی یکپارچه</a:t>
            </a:r>
            <a:r>
              <a:rPr lang="fa-IR" sz="13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است.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معرفی سیستم پیشنهادی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سه نقش، چهار لایه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05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1371600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539728" y="1517904"/>
            <a:ext cx="73152" cy="62179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58200" y="1499616"/>
            <a:ext cx="29992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1856232"/>
            <a:ext cx="2999232" cy="38404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یادگیری • آزمون • تحلیل • توصیه • تمرین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2404872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539728" y="2551176"/>
            <a:ext cx="73152" cy="6217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2532888"/>
            <a:ext cx="29992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89504"/>
            <a:ext cx="2999232" cy="38404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ایجاد دوره • آزمون • تولید سؤال • تحلیل کلاس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75320" y="3438144"/>
            <a:ext cx="341071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539728" y="3584448"/>
            <a:ext cx="73152" cy="6217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3566160"/>
            <a:ext cx="29992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922776"/>
            <a:ext cx="2999232" cy="384048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مدیریت کاربران، نقش‌ها و نظارت سامانه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1298448"/>
            <a:ext cx="329184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2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System Layers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16642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4338CA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Frontend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React 19 • TypeScript • MUI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6272784" y="2359152"/>
            <a:ext cx="164592" cy="182880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709160" y="25786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5B5FEF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Backend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NestJS • REST API • JWT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6272784" y="3273552"/>
            <a:ext cx="164592" cy="182880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4709160" y="34930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Database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Prisma • SQL Server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6272784" y="4187952"/>
            <a:ext cx="164592" cy="182880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709160" y="4407408"/>
            <a:ext cx="3291840" cy="676656"/>
          </a:xfrm>
          <a:prstGeom prst="roundRect">
            <a:avLst>
              <a:gd name="adj" fmla="val 13513"/>
            </a:avLst>
          </a:prstGeom>
          <a:solidFill>
            <a:srgbClr val="FFFFFF"/>
          </a:solidFill>
          <a:ln w="15875">
            <a:solidFill>
              <a:srgbClr val="3B82F6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AI Service</a:t>
            </a:r>
          </a:p>
          <a:p>
            <a:pPr algn="ctr" rtl="1">
              <a:lnSpc>
                <a:spcPct val="100000"/>
              </a:lnSpc>
            </a:pPr>
            <a:r>
              <a:rPr lang="fa-IR" sz="9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Qwen3-4B • OpenAI-Compatible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1371600"/>
            <a:ext cx="3931920" cy="3154680"/>
          </a:xfrm>
          <a:prstGeom prst="roundRect">
            <a:avLst>
              <a:gd name="adj" fmla="val 2898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 Same Side Corner Rectangle 33"/>
          <p:cNvSpPr/>
          <p:nvPr/>
        </p:nvSpPr>
        <p:spPr>
          <a:xfrm>
            <a:off x="502920" y="1371600"/>
            <a:ext cx="393192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51560" y="1399032"/>
            <a:ext cx="324612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2491740"/>
            <a:ext cx="365760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اصلی (Home) سامانه Mentorito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9272" y="41788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645152"/>
            <a:ext cx="393192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محصول واقعی پیاده‌سازی‌شده — نه نمونه مفهومی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230368"/>
            <a:ext cx="11183112" cy="713232"/>
          </a:xfrm>
          <a:prstGeom prst="roundRect">
            <a:avLst>
              <a:gd name="adj" fmla="val 1538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5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سه نقش کاربری، چهار لایه فنی — یک سامانه یکپارچه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معماری فنی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بر پایه پیاده‌سازی واقعی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06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371600"/>
            <a:ext cx="3822191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863840" y="1371600"/>
            <a:ext cx="3822191" cy="457200"/>
          </a:xfrm>
          <a:prstGeom prst="roundRect">
            <a:avLst>
              <a:gd name="adj" fmla="val 24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19" y="1444752"/>
            <a:ext cx="3456432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Frontend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1" y="2029967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02951" y="2029967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1" y="24688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MUI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02951" y="2468879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Router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9871" y="2907791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React Query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02951" y="2907791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Axios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9871" y="3346703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9" y="3767328"/>
            <a:ext cx="3456432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SPA — تعامل کامل کاربر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7424927" y="2560320"/>
            <a:ext cx="365760" cy="274320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3794760" y="1371600"/>
            <a:ext cx="3566160" cy="278892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794760" y="1371600"/>
            <a:ext cx="3566160" cy="457200"/>
          </a:xfrm>
          <a:prstGeom prst="roundRect">
            <a:avLst>
              <a:gd name="adj" fmla="val 24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77640" y="1444752"/>
            <a:ext cx="3200400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5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2029967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NestJS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50992" y="2029967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2468879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REST API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50992" y="2468879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JWT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23360" y="2907791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Refresh Token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50992" y="2907791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3767328"/>
            <a:ext cx="320040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لایه منطق، امنیت و هماهنگی</a:t>
            </a:r>
          </a:p>
        </p:txBody>
      </p:sp>
      <p:sp>
        <p:nvSpPr>
          <p:cNvPr id="35" name="Left Arrow 34"/>
          <p:cNvSpPr/>
          <p:nvPr/>
        </p:nvSpPr>
        <p:spPr>
          <a:xfrm>
            <a:off x="3364992" y="2560320"/>
            <a:ext cx="365760" cy="274320"/>
          </a:xfrm>
          <a:prstGeom prst="lef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502920" y="4434840"/>
            <a:ext cx="37033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02920" y="4434840"/>
            <a:ext cx="3703320" cy="420624"/>
          </a:xfrm>
          <a:prstGeom prst="roundRect">
            <a:avLst>
              <a:gd name="adj" fmla="val 26086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4489703"/>
            <a:ext cx="3337560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Layer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056631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Prisma ORM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86000" y="5056631"/>
            <a:ext cx="169164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SQL Server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586983"/>
            <a:ext cx="333756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ذخیره‌سازی و پرس‌وجوی داده‌های آموزشی</a:t>
            </a:r>
          </a:p>
        </p:txBody>
      </p:sp>
      <p:sp>
        <p:nvSpPr>
          <p:cNvPr id="42" name="Down Arrow 41"/>
          <p:cNvSpPr/>
          <p:nvPr/>
        </p:nvSpPr>
        <p:spPr>
          <a:xfrm>
            <a:off x="5477256" y="4187952"/>
            <a:ext cx="201168" cy="219456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229600" y="4434840"/>
            <a:ext cx="3456432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229600" y="4434840"/>
            <a:ext cx="3456432" cy="420624"/>
          </a:xfrm>
          <a:prstGeom prst="roundRect">
            <a:avLst>
              <a:gd name="adj" fmla="val 26086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12480" y="4489703"/>
            <a:ext cx="3090672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Service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458200" y="5056631"/>
            <a:ext cx="146304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058400" y="5056631"/>
            <a:ext cx="1417320" cy="40233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OpenAI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5586983"/>
            <a:ext cx="309067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تولید سؤال مبتنی بر Context دوره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60920" y="2194560"/>
            <a:ext cx="2596896" cy="2240280"/>
          </a:xfrm>
          <a:prstGeom prst="bentConnector3">
            <a:avLst/>
          </a:prstGeom>
          <a:ln w="19050">
            <a:solidFill>
              <a:srgbClr val="3B82F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02920" y="1371600"/>
            <a:ext cx="2743200" cy="2788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502920" y="1371600"/>
            <a:ext cx="2743200" cy="457200"/>
          </a:xfrm>
          <a:prstGeom prst="roundRect">
            <a:avLst>
              <a:gd name="adj" fmla="val 24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1444752"/>
            <a:ext cx="2377440" cy="34747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Real-Time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2011680"/>
            <a:ext cx="2468880" cy="17373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lang="fa-IR" sz="30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SSE</a:t>
            </a:r>
          </a:p>
          <a:p>
            <a:pPr algn="ctr" rtl="1">
              <a:lnSpc>
                <a:spcPct val="13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Server-Sent Events</a:t>
            </a:r>
          </a:p>
          <a:p>
            <a:pPr algn="ctr" rtl="1">
              <a:lnSpc>
                <a:spcPct val="13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ارتباط بلادرنگ</a:t>
            </a:r>
          </a:p>
          <a:p>
            <a:pPr algn="ctr" rtl="1">
              <a:lnSpc>
                <a:spcPct val="13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چت و رویدادهای زنده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246120" y="2743200"/>
            <a:ext cx="548640" cy="0"/>
          </a:xfrm>
          <a:prstGeom prst="line">
            <a:avLst/>
          </a:prstGeom>
          <a:ln w="19050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چرخه یادگیری در Mentorito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ارتباط قابلیت‌ها در یک چرخه واحد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07 / 22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095847" y="1312164"/>
            <a:ext cx="0" cy="220827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095847" y="1958953"/>
            <a:ext cx="2230696" cy="1561487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3520440"/>
            <a:ext cx="3154680" cy="0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95847" y="3520440"/>
            <a:ext cx="2230696" cy="156148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3520440"/>
            <a:ext cx="0" cy="220827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865151" y="3520440"/>
            <a:ext cx="2230696" cy="1561486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2941167" y="3520440"/>
            <a:ext cx="3154680" cy="0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 flipV="1">
            <a:off x="3865151" y="1958953"/>
            <a:ext cx="2230696" cy="1561487"/>
          </a:xfrm>
          <a:prstGeom prst="line">
            <a:avLst/>
          </a:prstGeom>
          <a:ln w="12700">
            <a:solidFill>
              <a:srgbClr val="C9CC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hevron 20"/>
          <p:cNvSpPr/>
          <p:nvPr/>
        </p:nvSpPr>
        <p:spPr>
          <a:xfrm rot="1350000">
            <a:off x="7315837" y="1172700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hevron 21"/>
          <p:cNvSpPr/>
          <p:nvPr/>
        </p:nvSpPr>
        <p:spPr>
          <a:xfrm rot="4050000">
            <a:off x="9196342" y="2489053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hevron 22"/>
          <p:cNvSpPr/>
          <p:nvPr/>
        </p:nvSpPr>
        <p:spPr>
          <a:xfrm rot="6750000">
            <a:off x="9196342" y="4350658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Chevron 23"/>
          <p:cNvSpPr/>
          <p:nvPr/>
        </p:nvSpPr>
        <p:spPr>
          <a:xfrm rot="9450000">
            <a:off x="7315837" y="5667011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evron 24"/>
          <p:cNvSpPr/>
          <p:nvPr/>
        </p:nvSpPr>
        <p:spPr>
          <a:xfrm rot="12150000">
            <a:off x="4656401" y="5667011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Chevron 25"/>
          <p:cNvSpPr/>
          <p:nvPr/>
        </p:nvSpPr>
        <p:spPr>
          <a:xfrm rot="14850000">
            <a:off x="2775896" y="4350658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hevron 26"/>
          <p:cNvSpPr/>
          <p:nvPr/>
        </p:nvSpPr>
        <p:spPr>
          <a:xfrm rot="17550000">
            <a:off x="2775896" y="2489053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Chevron 27"/>
          <p:cNvSpPr/>
          <p:nvPr/>
        </p:nvSpPr>
        <p:spPr>
          <a:xfrm rot="20250000">
            <a:off x="4656401" y="1172700"/>
            <a:ext cx="219456" cy="201168"/>
          </a:xfrm>
          <a:prstGeom prst="chevron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204307" y="1028700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مشاهده محتوا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35003" y="1675489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شرکت در آزمون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58987" y="3236976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ثبت پاسخ‌ها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35003" y="479846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SkillTag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204307" y="544525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تشخیص مهارت‌های ضعیف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73611" y="4798462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دوره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49627" y="3236976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تمرینی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73611" y="1675489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یادگیری مجدد</a:t>
            </a:r>
          </a:p>
        </p:txBody>
      </p:sp>
      <p:sp>
        <p:nvSpPr>
          <p:cNvPr id="37" name="Oval 36"/>
          <p:cNvSpPr/>
          <p:nvPr/>
        </p:nvSpPr>
        <p:spPr>
          <a:xfrm>
            <a:off x="5021427" y="2446020"/>
            <a:ext cx="2148840" cy="214884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0000"/>
              </a:lnSpc>
            </a:pPr>
            <a:r>
              <a:rPr lang="fa-IR" sz="17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Mentorito</a:t>
            </a:r>
          </a:p>
          <a:p>
            <a:pPr algn="ctr" rtl="1">
              <a:lnSpc>
                <a:spcPct val="110000"/>
              </a:lnSpc>
            </a:pPr>
            <a:r>
              <a:rPr lang="fa-IR" sz="1300" b="1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Learning Intelligence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97280" y="6053328"/>
            <a:ext cx="9994392" cy="457200"/>
          </a:xfrm>
          <a:prstGeom prst="roundRect">
            <a:avLst>
              <a:gd name="adj" fmla="val 24000"/>
            </a:avLst>
          </a:prstGeom>
          <a:solidFill>
            <a:srgbClr val="EEF0F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ارزیابی ← تحلیل ← تشخیص ← توصیه ← تمرین ← یادگیری دوباره؛ بدون خروج از سامانه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فرایند یادگیری از دید دانشجو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پیاده‌سازی واقعی — نه نمونه اولیه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08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Dashboard دانشجو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9958" y="29900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9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47822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376422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 Same Side Corner Rectangle 22"/>
          <p:cNvSpPr/>
          <p:nvPr/>
        </p:nvSpPr>
        <p:spPr>
          <a:xfrm>
            <a:off x="3376422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3486150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3632454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778758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25061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13582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فهرست دوره‌ها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6021324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249924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 Same Side Corner Rectangle 30"/>
          <p:cNvSpPr/>
          <p:nvPr/>
        </p:nvSpPr>
        <p:spPr>
          <a:xfrm>
            <a:off x="6249924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359652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505956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652260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98564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7084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جزئیات دوره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8894826" y="2258568"/>
            <a:ext cx="146304" cy="182880"/>
          </a:xfrm>
          <a:prstGeom prst="right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123426" y="1371600"/>
            <a:ext cx="2562606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 Same Side Corner Rectangle 38"/>
          <p:cNvSpPr/>
          <p:nvPr/>
        </p:nvSpPr>
        <p:spPr>
          <a:xfrm>
            <a:off x="9123426" y="1371600"/>
            <a:ext cx="2562606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9233154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379458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525762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672066" y="1399032"/>
            <a:ext cx="1876806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60586" y="1897380"/>
            <a:ext cx="2288286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اجرای آزمون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570464" y="29900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16007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دوره</a:t>
            </a:r>
          </a:p>
        </p:txBody>
      </p:sp>
      <p:sp>
        <p:nvSpPr>
          <p:cNvPr id="47" name="Left Arrow 46"/>
          <p:cNvSpPr/>
          <p:nvPr/>
        </p:nvSpPr>
        <p:spPr>
          <a:xfrm>
            <a:off x="9731959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8086039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یادگیری</a:t>
            </a:r>
          </a:p>
        </p:txBody>
      </p:sp>
      <p:sp>
        <p:nvSpPr>
          <p:cNvPr id="49" name="Left Arrow 48"/>
          <p:cNvSpPr/>
          <p:nvPr/>
        </p:nvSpPr>
        <p:spPr>
          <a:xfrm>
            <a:off x="7701991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056071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</a:t>
            </a:r>
          </a:p>
        </p:txBody>
      </p:sp>
      <p:sp>
        <p:nvSpPr>
          <p:cNvPr id="51" name="Left Arrow 50"/>
          <p:cNvSpPr/>
          <p:nvPr/>
        </p:nvSpPr>
        <p:spPr>
          <a:xfrm>
            <a:off x="5672023" y="3813048"/>
            <a:ext cx="310896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4026103" y="3703320"/>
            <a:ext cx="1572768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نتیجه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4434840"/>
            <a:ext cx="548640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1520" y="4590288"/>
            <a:ext cx="5029200" cy="1463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45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 — از یادگیری تا آزمون</a:t>
            </a:r>
          </a:p>
          <a:p>
            <a:pPr algn="r" rtl="1">
              <a:lnSpc>
                <a:spcPct val="145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سیستم چه می‌کند؟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مدیریت دوره، اجرای آزمون، ثبت پاسخ</a:t>
            </a:r>
          </a:p>
          <a:p>
            <a:pPr algn="r" rtl="1">
              <a:lnSpc>
                <a:spcPct val="145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پاسخ‌های ساخت‌یافته برای تحلیل SkillTag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199632" y="4434840"/>
            <a:ext cx="5486400" cy="1737360"/>
          </a:xfrm>
          <a:prstGeom prst="roundRect">
            <a:avLst>
              <a:gd name="adj" fmla="val 6315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0" y="4590288"/>
            <a:ext cx="5120640" cy="1463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45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این بخش در Mentorito به‌صورت واقعی پیاده‌سازی شده است:</a:t>
            </a:r>
          </a:p>
          <a:p>
            <a:pPr algn="r" rtl="1">
              <a:lnSpc>
                <a:spcPct val="145000"/>
              </a:lnSpc>
            </a:pPr>
            <a:r>
              <a:rPr lang="fa-IR" sz="11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React 19 SPA  •  REST API  •  JWT Session</a:t>
            </a:r>
          </a:p>
          <a:p>
            <a:pPr algn="r" rtl="1">
              <a:lnSpc>
                <a:spcPct val="145000"/>
              </a:lnSpc>
            </a:pPr>
            <a:r>
              <a:rPr lang="fa-IR" sz="11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داده‌های پاسخ، ورودی چرخه تحلیل مهارتی است (اسلایدهای بعد)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آزمون با هوش مصنوعی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قابلیت کلیدی شماره 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09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371600"/>
            <a:ext cx="3456432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8229600" y="1371600"/>
            <a:ext cx="345643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39327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848563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3193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778240" y="1399032"/>
            <a:ext cx="277063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965960"/>
            <a:ext cx="318211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درخواست تولید سؤال توسط مدرس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70463" y="312724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611880"/>
            <a:ext cx="3456432" cy="210312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 Same Side Corner Rectangle 21"/>
          <p:cNvSpPr/>
          <p:nvPr/>
        </p:nvSpPr>
        <p:spPr>
          <a:xfrm>
            <a:off x="8229600" y="3611880"/>
            <a:ext cx="345643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339327" y="36941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485632" y="36941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631936" y="36941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0" y="3639312"/>
            <a:ext cx="277063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206240"/>
            <a:ext cx="318211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Preview سؤال‌های تولیدشده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570463" y="53675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797296"/>
            <a:ext cx="34564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مدرس: درخواست ← سیستم: پیشنهاد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1371600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آزمون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4169663" y="1536192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4434840" y="1371600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2.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Request Generation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2084832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3.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استخراج ساختار دوره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169663" y="2249424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434840" y="2084832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4.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ساخت Prompt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2798064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5. Qwen3-4B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4169663" y="2962656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4434840" y="2798064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6.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JSON Response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511296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7.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Validation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4169663" y="3675888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434840" y="3511296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8.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Preview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224528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9. تأیید مدرس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4169663" y="4389120"/>
            <a:ext cx="219456" cy="182880"/>
          </a:xfrm>
          <a:prstGeom prst="righ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4434840" y="4224528"/>
            <a:ext cx="361188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10. 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Question Bank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892040"/>
            <a:ext cx="7543800" cy="1280160"/>
          </a:xfrm>
          <a:prstGeom prst="roundRect">
            <a:avLst>
              <a:gd name="adj" fmla="val 8571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5029200"/>
            <a:ext cx="7086600" cy="10515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4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درخواست تولید سؤال می‌دهد</a:t>
            </a:r>
          </a:p>
          <a:p>
            <a:pPr algn="r" rtl="1">
              <a:lnSpc>
                <a:spcPct val="14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سیستم: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استخراج Context ← ساخت Prompt ← </a:t>
            </a: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Qwen3-4B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← اعتبارسنجی JSON</a:t>
            </a:r>
          </a:p>
          <a:p>
            <a:pPr algn="r" rtl="1">
              <a:lnSpc>
                <a:spcPct val="14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خروجی: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پیش‌نمایش سؤال‌ها برای بررسی و تأیید مدرس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تولید سؤال مبتنی بر محتوای واقعی دوره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Context-Aware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10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371600"/>
            <a:ext cx="4050791" cy="3977639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18119" y="1481328"/>
            <a:ext cx="3685031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Learning Context</a:t>
            </a:r>
          </a:p>
        </p:txBody>
      </p:sp>
      <p:sp>
        <p:nvSpPr>
          <p:cNvPr id="15" name="Oval 14"/>
          <p:cNvSpPr/>
          <p:nvPr/>
        </p:nvSpPr>
        <p:spPr>
          <a:xfrm>
            <a:off x="11301984" y="2029968"/>
            <a:ext cx="109728" cy="109728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09560" y="193852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Title</a:t>
            </a:r>
          </a:p>
        </p:txBody>
      </p:sp>
      <p:sp>
        <p:nvSpPr>
          <p:cNvPr id="17" name="Oval 16"/>
          <p:cNvSpPr/>
          <p:nvPr/>
        </p:nvSpPr>
        <p:spPr>
          <a:xfrm>
            <a:off x="11301984" y="2441448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09560" y="235000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Section Titles</a:t>
            </a:r>
          </a:p>
        </p:txBody>
      </p:sp>
      <p:sp>
        <p:nvSpPr>
          <p:cNvPr id="19" name="Oval 18"/>
          <p:cNvSpPr/>
          <p:nvPr/>
        </p:nvSpPr>
        <p:spPr>
          <a:xfrm>
            <a:off x="11301984" y="2852928"/>
            <a:ext cx="109728" cy="10972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09560" y="276148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Lesson Titles</a:t>
            </a:r>
          </a:p>
        </p:txBody>
      </p:sp>
      <p:sp>
        <p:nvSpPr>
          <p:cNvPr id="21" name="Oval 20"/>
          <p:cNvSpPr/>
          <p:nvPr/>
        </p:nvSpPr>
        <p:spPr>
          <a:xfrm>
            <a:off x="11301984" y="326440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09560" y="317296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Learning Outcomes</a:t>
            </a:r>
          </a:p>
        </p:txBody>
      </p:sp>
      <p:sp>
        <p:nvSpPr>
          <p:cNvPr id="23" name="Oval 22"/>
          <p:cNvSpPr/>
          <p:nvPr/>
        </p:nvSpPr>
        <p:spPr>
          <a:xfrm>
            <a:off x="11301984" y="3675887"/>
            <a:ext cx="109728" cy="109728"/>
          </a:xfrm>
          <a:prstGeom prst="ellipse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09560" y="358444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Prerequisites</a:t>
            </a:r>
          </a:p>
        </p:txBody>
      </p:sp>
      <p:sp>
        <p:nvSpPr>
          <p:cNvPr id="25" name="Oval 24"/>
          <p:cNvSpPr/>
          <p:nvPr/>
        </p:nvSpPr>
        <p:spPr>
          <a:xfrm>
            <a:off x="11301984" y="4087368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09560" y="399592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Description</a:t>
            </a:r>
          </a:p>
        </p:txBody>
      </p:sp>
      <p:sp>
        <p:nvSpPr>
          <p:cNvPr id="27" name="Oval 26"/>
          <p:cNvSpPr/>
          <p:nvPr/>
        </p:nvSpPr>
        <p:spPr>
          <a:xfrm>
            <a:off x="11301984" y="4498848"/>
            <a:ext cx="109728" cy="109728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9560" y="440740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Difficulty</a:t>
            </a:r>
          </a:p>
        </p:txBody>
      </p:sp>
      <p:sp>
        <p:nvSpPr>
          <p:cNvPr id="29" name="Oval 28"/>
          <p:cNvSpPr/>
          <p:nvPr/>
        </p:nvSpPr>
        <p:spPr>
          <a:xfrm>
            <a:off x="11301984" y="4910327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09560" y="4818888"/>
            <a:ext cx="3273551" cy="32918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Category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77440" y="1417320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Course Structure</a:t>
            </a:r>
          </a:p>
        </p:txBody>
      </p:sp>
      <p:sp>
        <p:nvSpPr>
          <p:cNvPr id="32" name="Down Arrow 31"/>
          <p:cNvSpPr/>
          <p:nvPr/>
        </p:nvSpPr>
        <p:spPr>
          <a:xfrm>
            <a:off x="3794760" y="2020824"/>
            <a:ext cx="182880" cy="201168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2377440" y="2258568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5B5FE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Learning Context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3794760" y="2862072"/>
            <a:ext cx="182880" cy="201168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377440" y="3099816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6366F1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Prompt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3794760" y="3703320"/>
            <a:ext cx="182880" cy="201168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2377440" y="3941064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3B82F6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38" name="Down Arrow 37"/>
          <p:cNvSpPr/>
          <p:nvPr/>
        </p:nvSpPr>
        <p:spPr>
          <a:xfrm>
            <a:off x="3794760" y="4544568"/>
            <a:ext cx="182880" cy="201168"/>
          </a:xfrm>
          <a:prstGeom prst="downArrow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377440" y="4782312"/>
            <a:ext cx="3017520" cy="566928"/>
          </a:xfrm>
          <a:prstGeom prst="roundRect">
            <a:avLst>
              <a:gd name="adj" fmla="val 16129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Structured Questions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1554480"/>
            <a:ext cx="17373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از دیتابیس دوره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3246120"/>
            <a:ext cx="1737360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مهندسی Prompt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46320"/>
            <a:ext cx="169164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سؤال ساخت‌یافته + SkillTag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440680"/>
            <a:ext cx="2560320" cy="960120"/>
          </a:xfrm>
          <a:prstGeom prst="roundRect">
            <a:avLst>
              <a:gd name="adj" fmla="val 9523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 Same Side Corner Rectangle 43"/>
          <p:cNvSpPr/>
          <p:nvPr/>
        </p:nvSpPr>
        <p:spPr>
          <a:xfrm>
            <a:off x="2606040" y="5440680"/>
            <a:ext cx="256032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2715768" y="55229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Oval 45"/>
          <p:cNvSpPr/>
          <p:nvPr/>
        </p:nvSpPr>
        <p:spPr>
          <a:xfrm>
            <a:off x="2862072" y="55229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3008376" y="55229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154680" y="5468112"/>
            <a:ext cx="1874519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0" y="5769864"/>
            <a:ext cx="228600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Preview سؤال‌ها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0792" y="60533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635240" y="5577840"/>
            <a:ext cx="4050791" cy="777240"/>
          </a:xfrm>
          <a:prstGeom prst="roundRect">
            <a:avLst>
              <a:gd name="adj" fmla="val 1411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هدف: تولید سؤال مرتبط با همان دوره، نه سؤال عمومی و مستقل از محتوا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کنترل مدرس و برچسب مهارتی سؤال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Human-in-the-Loop + SkillTag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11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25880"/>
            <a:ext cx="1118311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1444752"/>
            <a:ext cx="1069848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Human in the Loop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90304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AI پیشنهاد می‌دهد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8887968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91656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بررسی می‌کند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989320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493008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مدرس اصلاح / تأیید می‌کند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3090672" y="2148840"/>
            <a:ext cx="329184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4360" y="1938528"/>
            <a:ext cx="239572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سؤال وارد بانک سؤال می‌شود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798064"/>
            <a:ext cx="10698480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تأکید: </a:t>
            </a:r>
            <a:r>
              <a:rPr lang="fa-IR" sz="12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هوش مصنوعی جایگزین تصمیم تخصصی مدرس نیست.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11880"/>
            <a:ext cx="5486400" cy="2514600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3730752"/>
            <a:ext cx="5029200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SkillTag</a:t>
            </a:r>
            <a:r>
              <a:rPr lang="fa-IR" sz="14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— برچسب مهارتی سؤال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224528"/>
            <a:ext cx="2194560" cy="548640"/>
          </a:xfrm>
          <a:prstGeom prst="roundRect">
            <a:avLst>
              <a:gd name="adj" fmla="val 16666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Normalization</a:t>
            </a:r>
          </a:p>
        </p:txBody>
      </p:sp>
      <p:sp>
        <p:nvSpPr>
          <p:cNvPr id="26" name="Left Arrow 25"/>
          <p:cNvSpPr/>
          <p:nvPr/>
        </p:nvSpPr>
        <p:spPr>
          <a:xfrm>
            <a:off x="3200400" y="4379976"/>
            <a:ext cx="36576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657600" y="4224528"/>
            <a:ext cx="2103120" cy="548640"/>
          </a:xfrm>
          <a:prstGeom prst="roundRect">
            <a:avLst>
              <a:gd name="adj" fmla="val 16666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نرمال‌سازی جداول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74336"/>
            <a:ext cx="5029200" cy="10515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هر سؤال یک برچسب مهارتی ۲ تا ۴ کلمه‌ای دارد.</a:t>
            </a:r>
          </a:p>
          <a:p>
            <a:pPr algn="r" rtl="1">
              <a:lnSpc>
                <a:spcPct val="135000"/>
              </a:lnSpc>
            </a:pP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این برچسب بعداً مبنای تحلیل عملکرد دانشجو است.</a:t>
            </a:r>
          </a:p>
          <a:p>
            <a:pPr algn="r" rtl="1">
              <a:lnSpc>
                <a:spcPct val="135000"/>
              </a:lnSpc>
            </a:pPr>
            <a:r>
              <a:rPr lang="fa-IR" sz="11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مدرس پس از Preview می‌تواند سؤال‌ها را ویرایش کند.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3611880"/>
            <a:ext cx="54864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199632" y="3611880"/>
            <a:ext cx="548640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309360" y="369417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55664" y="369417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01968" y="369417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48272" y="3639312"/>
            <a:ext cx="480060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36792" y="4411980"/>
            <a:ext cx="521208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تأیید و ویرایش سؤال توسط مدرس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70464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دانشجو در سطح مهارت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فراتر از نمره کلی — Skill-Level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12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40080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640080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571500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12648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داشبورد تحلیل مهارتی دانشجو — نمودار راداری و Weak Skills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8815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71600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۱. پاسخ‌ها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88271" y="1371600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۲. گروه‌بندی بر اساس SkillTag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8040" y="1956816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۳. محاسبه درصد تسلط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88271" y="1956816"/>
            <a:ext cx="2200503" cy="493776"/>
          </a:xfrm>
          <a:prstGeom prst="roundRect">
            <a:avLst>
              <a:gd name="adj" fmla="val 50000"/>
            </a:avLst>
          </a:prstGeom>
          <a:solidFill>
            <a:srgbClr val="EEF0FF"/>
          </a:solidFill>
          <a:ln w="12700">
            <a:solidFill>
              <a:srgbClr val="5B5F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۴. مرتب‌سازی مهارت‌ها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2606040"/>
            <a:ext cx="4510735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نمونه خروجی تحلیل: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178040" y="2999232"/>
          <a:ext cx="4510735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5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Skill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Performance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FFFFFF"/>
                          </a:solidFill>
                          <a:latin typeface="Segoe UI"/>
                          <a:ea typeface="Vazirmatn"/>
                          <a:cs typeface="Vazirmatn"/>
                        </a:rPr>
                        <a:t>وضعیت</a:t>
                      </a:r>
                    </a:p>
                  </a:txBody>
                  <a:tcPr anchor="ctr">
                    <a:solidFill>
                      <a:srgbClr val="4338C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SQL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17172B"/>
                          </a:solidFill>
                          <a:latin typeface="Segoe UI"/>
                          <a:ea typeface="Segoe UI"/>
                          <a:cs typeface="Segoe UI"/>
                        </a:rPr>
                        <a:t>85%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17172B"/>
                          </a:solidFill>
                          <a:latin typeface="Segoe UI"/>
                          <a:ea typeface="Vazirmatn"/>
                          <a:cs typeface="Vazirmatn"/>
                        </a:rPr>
                        <a:t>مطلوب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6366F1"/>
                          </a:solidFill>
                          <a:latin typeface="Segoe UI"/>
                          <a:ea typeface="Segoe UI"/>
                          <a:cs typeface="Segoe UI"/>
                        </a:rPr>
                        <a:t>ERD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0">
                          <a:solidFill>
                            <a:srgbClr val="17172B"/>
                          </a:solidFill>
                          <a:latin typeface="Segoe UI"/>
                          <a:ea typeface="Segoe UI"/>
                          <a:cs typeface="Segoe UI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17172B"/>
                          </a:solidFill>
                          <a:latin typeface="Segoe UI"/>
                          <a:ea typeface="Vazirmatn"/>
                          <a:cs typeface="Vazirmatn"/>
                        </a:rPr>
                        <a:t>مطلوب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Normalization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44%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Vazirmatn"/>
                          <a:cs typeface="Vazirmatn"/>
                        </a:rPr>
                        <a:t>ضعیف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Transaction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Segoe UI"/>
                          <a:cs typeface="Segoe UI"/>
                        </a:rPr>
                        <a:t>32%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1050" b="1">
                          <a:solidFill>
                            <a:srgbClr val="4338CA"/>
                          </a:solidFill>
                          <a:latin typeface="Segoe UI"/>
                          <a:ea typeface="Vazirmatn"/>
                          <a:cs typeface="Vazirmatn"/>
                        </a:rPr>
                        <a:t>ضعیف</a:t>
                      </a:r>
                    </a:p>
                  </a:txBody>
                  <a:tcPr anchor="ctr">
                    <a:solidFill>
                      <a:srgbClr val="EEF0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178040" y="4892040"/>
            <a:ext cx="4510735" cy="731520"/>
          </a:xfrm>
          <a:prstGeom prst="roundRect">
            <a:avLst>
              <a:gd name="adj" fmla="val 15000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دو دانشجو با نمره یکسان الزاماً وضعیت مهارتی یکسانی ندارند.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5760720"/>
            <a:ext cx="4510735" cy="5486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در داشبورد Mentorito، </a:t>
            </a:r>
            <a:r>
              <a:rPr lang="fa-IR" sz="11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Radar Chart</a:t>
            </a: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و نمایش Weak Skills برای همین هدف استفاده شده است.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تحلیل عملکرد کلاس از دید مدرس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12648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Instructor Analytics Dashboard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13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94944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69494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626364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67512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داشبورد تحلیل عملکرد کلاس — دید مدرس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3679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1371600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542471" y="1508760"/>
            <a:ext cx="73152" cy="621792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18119" y="1463040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عملکرد دانشجویان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19" y="1810512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عملکرد هر دانشجو در آزمون‌ها و مهارت‌ها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2395728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542471" y="2532888"/>
            <a:ext cx="73152" cy="6217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18119" y="2487168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میانگین عملکرد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19" y="2834640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میانگین کلاس به‌صورت لحظه‌ای و تجمیعی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5240" y="3419856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1542471" y="3557016"/>
            <a:ext cx="73152" cy="621792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18119" y="3511296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 dirty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وضعیت مهارت‌ها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19" y="3858768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نمای تجمیعی SkillTag در سطح کلاس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35240" y="4443984"/>
            <a:ext cx="4053535" cy="896112"/>
          </a:xfrm>
          <a:prstGeom prst="roundRect">
            <a:avLst>
              <a:gd name="adj" fmla="val 1224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1542471" y="4581144"/>
            <a:ext cx="73152" cy="6217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818119" y="4535424"/>
            <a:ext cx="35963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3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نقاط ضعف کلاس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19" y="4882896"/>
            <a:ext cx="3596335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10000"/>
              </a:lnSpc>
            </a:pP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شناسایی مهارت‌های ضعیف برای اقدام آموزشی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35240" y="5596128"/>
            <a:ext cx="4053535" cy="777240"/>
          </a:xfrm>
          <a:prstGeom prst="roundRect">
            <a:avLst>
              <a:gd name="adj" fmla="val 1411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1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تحلیل فقط برای دانشجو نیست؛ مدرس نیز وضعیت یادگیری کلاس را می‌بیند.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تشخیص روند یادگیری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85800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 dirty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Learning Trend — Linear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14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6675120" cy="420624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4983479"/>
            <a:ext cx="5212079" cy="0"/>
          </a:xfrm>
          <a:prstGeom prst="line">
            <a:avLst/>
          </a:prstGeom>
          <a:ln w="19050">
            <a:solidFill>
              <a:srgbClr val="B9B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005840" y="1828799"/>
            <a:ext cx="0" cy="3154680"/>
          </a:xfrm>
          <a:prstGeom prst="line">
            <a:avLst/>
          </a:prstGeom>
          <a:ln w="19050">
            <a:solidFill>
              <a:srgbClr val="B9BC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06239" y="5093207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000" b="1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آزمون‌های متوالی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1783079"/>
            <a:ext cx="12801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00" b="1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نمره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3063239"/>
            <a:ext cx="2560320" cy="411480"/>
          </a:xfrm>
          <a:prstGeom prst="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 flipV="1">
            <a:off x="1188720" y="2514599"/>
            <a:ext cx="2560319" cy="1828800"/>
          </a:xfrm>
          <a:prstGeom prst="line">
            <a:avLst/>
          </a:prstGeom>
          <a:ln w="38100">
            <a:solidFill>
              <a:srgbClr val="4338C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822191" y="2377439"/>
            <a:ext cx="10515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صعودی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88720" y="3154679"/>
            <a:ext cx="2560319" cy="137160"/>
          </a:xfrm>
          <a:prstGeom prst="line">
            <a:avLst/>
          </a:prstGeom>
          <a:ln w="38100">
            <a:solidFill>
              <a:srgbClr val="5B5F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822191" y="3017519"/>
            <a:ext cx="10515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پایدار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2148839"/>
            <a:ext cx="2560319" cy="1737360"/>
          </a:xfrm>
          <a:prstGeom prst="line">
            <a:avLst/>
          </a:prstGeom>
          <a:ln w="38100">
            <a:solidFill>
              <a:srgbClr val="3B82F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822191" y="3749039"/>
            <a:ext cx="10515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1">
              <a:lnSpc>
                <a:spcPct val="100000"/>
              </a:lnSpc>
            </a:pPr>
            <a:r>
              <a:rPr lang="fa-IR" sz="1050" b="1">
                <a:solidFill>
                  <a:srgbClr val="3B82F6"/>
                </a:solidFill>
                <a:latin typeface="Vazirmatn"/>
                <a:ea typeface="Vazirmatn"/>
                <a:cs typeface="Vazirmatn"/>
              </a:rPr>
              <a:t>نزولی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303519"/>
            <a:ext cx="265176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نمونه نمرات آزمون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52360" y="1371600"/>
            <a:ext cx="4236415" cy="1051560"/>
          </a:xfrm>
          <a:prstGeom prst="roundRect">
            <a:avLst>
              <a:gd name="adj" fmla="val 10434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35240" y="1490472"/>
            <a:ext cx="3870655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lang="fa-IR" sz="14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Linear Regression</a:t>
            </a:r>
          </a:p>
          <a:p>
            <a:pPr algn="r" rtl="1">
              <a:lnSpc>
                <a:spcPct val="130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روش: Least Squares بر نمرات آزمون‌های متوالی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2606040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1560759" y="2715768"/>
            <a:ext cx="64008" cy="54864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635240" y="2679192"/>
            <a:ext cx="38249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Slope &gt; +2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026664"/>
            <a:ext cx="3824935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صعودی — بهبود عملکرد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52360" y="3502152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1560759" y="3611880"/>
            <a:ext cx="64008" cy="54864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635240" y="3575304"/>
            <a:ext cx="38249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-2 ≤ Slope ≤ +2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3922776"/>
            <a:ext cx="3824935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پایدار — تغییر معنادار مشاهده نمی‌شود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4398264"/>
            <a:ext cx="4236415" cy="777240"/>
          </a:xfrm>
          <a:prstGeom prst="roundRect">
            <a:avLst>
              <a:gd name="adj" fmla="val 14117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1560759" y="4507992"/>
            <a:ext cx="64008" cy="5486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635240" y="4471416"/>
            <a:ext cx="382493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25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Slope &lt; 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4818888"/>
            <a:ext cx="3824935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نزولی — کاهش عملکرد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5349240"/>
            <a:ext cx="4236415" cy="566928"/>
          </a:xfrm>
          <a:prstGeom prst="roundRect">
            <a:avLst>
              <a:gd name="adj" fmla="val 16129"/>
            </a:avLst>
          </a:prstGeom>
          <a:solidFill>
            <a:srgbClr val="EEF0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کمتر از ۲ آزمون ← داده کافی نیست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توصیه دوره بر اساس شکاف مهارتی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Recommendation Engine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15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557784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55778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489204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2743200"/>
            <a:ext cx="530352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پیشنهادهای شخصی‌سازی‌شده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65192" y="46817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166360"/>
            <a:ext cx="557784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پیشنهادها مستقیماً از تحلیل مهارتی دانشجو ساخته می‌شوند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1371600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 Analysis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9098280" y="1847088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675120" y="1975104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Weak Skills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9098280" y="2450592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675120" y="2578608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Candidate Courses</a:t>
            </a:r>
          </a:p>
        </p:txBody>
      </p:sp>
      <p:sp>
        <p:nvSpPr>
          <p:cNvPr id="27" name="Down Arrow 26"/>
          <p:cNvSpPr/>
          <p:nvPr/>
        </p:nvSpPr>
        <p:spPr>
          <a:xfrm>
            <a:off x="9098280" y="3054096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675120" y="3182112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Weighted Scoring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9098280" y="3657600"/>
            <a:ext cx="164592" cy="118872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675120" y="3785616"/>
            <a:ext cx="5010912" cy="45720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Recommended Courses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462272"/>
            <a:ext cx="5376672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Recommendation Score =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4338CA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0.45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 Gap Match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5FEF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6809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0.25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175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Level Progression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525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0525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0.20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891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Category Affinity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24160" y="4828032"/>
            <a:ext cx="1280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B82F6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424160" y="4901184"/>
            <a:ext cx="1280160" cy="4572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6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0.10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0736" y="5358384"/>
            <a:ext cx="1207008" cy="530352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850" b="1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Course Quality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6035040"/>
            <a:ext cx="5376672" cy="365760"/>
          </a:xfrm>
          <a:prstGeom prst="roundRect">
            <a:avLst>
              <a:gd name="adj" fmla="val 20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9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Score = 0.45×SkillGap + 0.25×Level + 0.20×Category + 0.10×Quality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تمرینی هدفمند بر اساس مهارت ضعیف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یکی از نوآوری‌های اصلی Mentorito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16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66928"/>
            <a:ext cx="1965960" cy="3657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950" b="1" spc="12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KEY INNOVATION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37760" y="146304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1.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Weak Skill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6409944" y="201168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937760" y="228600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2.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دوره و SkillTag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6409944" y="283464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937760" y="310896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3.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Filter Questions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409944" y="365760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937760" y="393192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4.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بررسی حداقل ۱۰ سؤال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146304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5.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Fisher-Yates Shuffle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2295144" y="201168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22960" y="228600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6.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۱۰ سؤال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2295144" y="283464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22960" y="310896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7. </a:t>
            </a:r>
            <a:r>
              <a:rPr lang="fa-IR" sz="11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Practice Exam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2295144" y="3657600"/>
            <a:ext cx="164592" cy="237744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2960" y="3931920"/>
            <a:ext cx="3108960" cy="51206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1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8. Result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1463040"/>
            <a:ext cx="3410712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 Same Side Corner Rectangle 28"/>
          <p:cNvSpPr/>
          <p:nvPr/>
        </p:nvSpPr>
        <p:spPr>
          <a:xfrm>
            <a:off x="8275320" y="1463040"/>
            <a:ext cx="341071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385048" y="154533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531352" y="154533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8677656" y="154533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23960" y="1490472"/>
            <a:ext cx="272491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034540"/>
            <a:ext cx="313639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انتخاب / شروع آزمون تمرینی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570464" y="317296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75320" y="3657600"/>
            <a:ext cx="3410712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 Same Side Corner Rectangle 36"/>
          <p:cNvSpPr/>
          <p:nvPr/>
        </p:nvSpPr>
        <p:spPr>
          <a:xfrm>
            <a:off x="8275320" y="3657600"/>
            <a:ext cx="3410712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385048" y="3739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8531352" y="3739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8677656" y="3739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23960" y="3685032"/>
            <a:ext cx="2724912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229100"/>
            <a:ext cx="3136392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آزمون تمرینی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570464" y="536752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029200"/>
            <a:ext cx="7543800" cy="868680"/>
          </a:xfrm>
          <a:prstGeom prst="roundRect">
            <a:avLst>
              <a:gd name="adj" fmla="val 12631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تمرین دقیقاً برای همان مهارتی ایجاد می‌شود که دانشجو در آن ضعف دارد.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16752"/>
            <a:ext cx="7543800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Fisher-Yates</a:t>
            </a:r>
            <a:r>
              <a:rPr lang="fa-IR" sz="105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 — بُر زدن تصادفی و بدون سوگیری پیش از انتخاب ۱۰ سؤال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از تحلیل تا بهبود؛ یک چرخه بسته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Practice Exam فقط یک Quiz معمولی نیست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17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16007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آزمون اصلی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9786823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14055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Skill Analysis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7884871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12103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Weak Skill</a:t>
            </a:r>
          </a:p>
        </p:txBody>
      </p:sp>
      <p:sp>
        <p:nvSpPr>
          <p:cNvPr id="18" name="Left Arrow 17"/>
          <p:cNvSpPr/>
          <p:nvPr/>
        </p:nvSpPr>
        <p:spPr>
          <a:xfrm>
            <a:off x="5982919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410151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Practice Exam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4080967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508199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 w="12700">
            <a:solidFill>
              <a:srgbClr val="4338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New Result</a:t>
            </a:r>
          </a:p>
        </p:txBody>
      </p:sp>
      <p:sp>
        <p:nvSpPr>
          <p:cNvPr id="22" name="Left Arrow 21"/>
          <p:cNvSpPr/>
          <p:nvPr/>
        </p:nvSpPr>
        <p:spPr>
          <a:xfrm>
            <a:off x="2179015" y="2048256"/>
            <a:ext cx="274320" cy="237744"/>
          </a:xfrm>
          <a:prstGeom prst="left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06247" y="1828800"/>
            <a:ext cx="15727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9144" rIns="54864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0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Updated Status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92631" y="2487168"/>
            <a:ext cx="0" cy="256032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392631" y="2743200"/>
            <a:ext cx="9509760" cy="0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10902391" y="2523744"/>
            <a:ext cx="0" cy="219456"/>
          </a:xfrm>
          <a:prstGeom prst="line">
            <a:avLst/>
          </a:prstGeom>
          <a:ln w="15875">
            <a:solidFill>
              <a:srgbClr val="6366F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Up Arrow 26"/>
          <p:cNvSpPr/>
          <p:nvPr/>
        </p:nvSpPr>
        <p:spPr>
          <a:xfrm>
            <a:off x="10810951" y="2505456"/>
            <a:ext cx="182880" cy="201168"/>
          </a:xfrm>
          <a:prstGeom prst="up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06240" y="2505456"/>
            <a:ext cx="3840480" cy="237744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نتایج جدید دوباره وارد تحلیل می‌شوند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977639" y="3017520"/>
            <a:ext cx="420624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 Same Side Corner Rectangle 29"/>
          <p:cNvSpPr/>
          <p:nvPr/>
        </p:nvSpPr>
        <p:spPr>
          <a:xfrm>
            <a:off x="3977639" y="3017520"/>
            <a:ext cx="420624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4087368" y="3099815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233672" y="3099815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379976" y="3099815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26279" y="3044951"/>
            <a:ext cx="3520439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749039"/>
            <a:ext cx="393192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آزمون تمرینی — Updated Status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068312" y="504748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7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3017520"/>
            <a:ext cx="3200400" cy="2377440"/>
          </a:xfrm>
          <a:prstGeom prst="roundRect">
            <a:avLst>
              <a:gd name="adj" fmla="val 4615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85800" y="3200400"/>
            <a:ext cx="2834640" cy="2011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کسی؟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دانشجو پس از تحلیل</a:t>
            </a:r>
          </a:p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چه کاری؟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تمرین هدفمند روی Weak Skill</a:t>
            </a:r>
          </a:p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خروجی؟ </a:t>
            </a:r>
            <a:r>
              <a:rPr lang="fa-IR" sz="115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 جدید و به‌روزرسانی وضعیت یادگیری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6760" y="3017520"/>
            <a:ext cx="3319272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49640" y="3200400"/>
            <a:ext cx="2953512" cy="2011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داده‌های ارزیابی دوباره وارد چرخه یادگیری می‌شوند:</a:t>
            </a:r>
          </a:p>
          <a:p>
            <a:pPr algn="r" rtl="1">
              <a:lnSpc>
                <a:spcPct val="150000"/>
              </a:lnSpc>
            </a:pPr>
            <a:r>
              <a:rPr lang="fa-IR" sz="11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Result → Analytics → Next Action</a:t>
            </a:r>
          </a:p>
          <a:p>
            <a:pPr algn="r" rtl="1">
              <a:lnSpc>
                <a:spcPct val="150000"/>
              </a:lnSpc>
            </a:pPr>
            <a:r>
              <a:rPr lang="fa-IR" sz="11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ارزش اصلی: تبدیل نمره به «اقدام بعدی»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623560"/>
            <a:ext cx="11183112" cy="621792"/>
          </a:xfrm>
          <a:prstGeom prst="roundRect">
            <a:avLst>
              <a:gd name="adj" fmla="val 17647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3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ارزیابی ← تحلیل ← اقدام ← ارزیابی دوباره؛ یک حلقه بسته یادگیری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تعامل و چت بلادرنگ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Real-Time Communication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18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371600"/>
            <a:ext cx="7223760" cy="47548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C9CCF2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 Same Side Corner Rectangle 13"/>
          <p:cNvSpPr/>
          <p:nvPr/>
        </p:nvSpPr>
        <p:spPr>
          <a:xfrm>
            <a:off x="502920" y="1371600"/>
            <a:ext cx="7223760" cy="274320"/>
          </a:xfrm>
          <a:prstGeom prst="round2SameRect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12648" y="1453896"/>
            <a:ext cx="91440" cy="91440"/>
          </a:xfrm>
          <a:prstGeom prst="ellipse">
            <a:avLst/>
          </a:prstGeom>
          <a:solidFill>
            <a:srgbClr val="C9C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758952" y="1453896"/>
            <a:ext cx="91440" cy="91440"/>
          </a:xfrm>
          <a:prstGeom prst="ellipse">
            <a:avLst/>
          </a:prstGeom>
          <a:solidFill>
            <a:srgbClr val="A5A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05256" y="1453896"/>
            <a:ext cx="91440" cy="91440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1399032"/>
            <a:ext cx="6537960" cy="21945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8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39"/>
            <a:ext cx="6949440" cy="731520"/>
          </a:xfrm>
          <a:prstGeom prst="rect">
            <a:avLst/>
          </a:prstGeom>
          <a:noFill/>
        </p:spPr>
        <p:txBody>
          <a:bodyPr wrap="square" lIns="27432" tIns="9144" rIns="27432" bIns="9144" anchor="ctr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lang="fa-IR" sz="125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جای اسکرین‌شات واقعی</a:t>
            </a:r>
          </a:p>
          <a:p>
            <a:pPr algn="ctr" rtl="1">
              <a:lnSpc>
                <a:spcPct val="115000"/>
              </a:lnSpc>
            </a:pPr>
            <a:r>
              <a:rPr lang="fa-IR" sz="11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صفحه چت Mentorito — گفت‌وگوی بلادرنگ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11112" y="5779008"/>
            <a:ext cx="969264" cy="237744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9144" rIns="18288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85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Priority 10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React Client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762591" y="2011680"/>
            <a:ext cx="164592" cy="219456"/>
          </a:xfrm>
          <a:prstGeom prst="downArrow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001000" y="2340864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5B5FEF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762591" y="2980944"/>
            <a:ext cx="164592" cy="219456"/>
          </a:xfrm>
          <a:prstGeom prst="downArrow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01000" y="3310128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6366F1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9762591" y="3950208"/>
            <a:ext cx="164592" cy="219456"/>
          </a:xfrm>
          <a:prstGeom prst="downArrow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01000" y="4279392"/>
            <a:ext cx="3687775" cy="621792"/>
          </a:xfrm>
          <a:prstGeom prst="roundRect">
            <a:avLst>
              <a:gd name="adj" fmla="val 14705"/>
            </a:avLst>
          </a:prstGeom>
          <a:solidFill>
            <a:srgbClr val="3B82F6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3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Real-Time Events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01000" y="5349240"/>
            <a:ext cx="3687775" cy="777240"/>
          </a:xfrm>
          <a:prstGeom prst="roundRect">
            <a:avLst>
              <a:gd name="adj" fmla="val 14117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20000"/>
              </a:lnSpc>
            </a:pP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ارتباط بلادرنگ با </a:t>
            </a:r>
            <a:r>
              <a:rPr lang="fa-IR" sz="115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Server-Sent Events</a:t>
            </a:r>
            <a:r>
              <a:rPr lang="fa-IR" sz="115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 و مدیریت اتصال‌های فعال درون Backend پیاده‌سازی شده است.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مهم‌ترین دستاوردهای پیاده‌سازی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Technical Summary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19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5661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53949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984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NestJS + TypeScript + Prisma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8269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28269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46557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9592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Frontend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6557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React 19 + TypeScript + MUI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20877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39165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9165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Microsoft SQL Server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34856" y="137160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134856" y="137160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17736" y="1645920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3B82F6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48088" y="1664208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3B82F6"/>
                </a:solidFill>
                <a:latin typeface="Segoe UI"/>
                <a:ea typeface="Segoe UI"/>
                <a:cs typeface="Segoe UI"/>
              </a:rPr>
              <a:t>Security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17736" y="2148840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JWT + Refresh Token + Role-Based Access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1965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181965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200253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32888" y="3538727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4338CA"/>
                </a:solidFill>
                <a:latin typeface="Segoe UI"/>
                <a:ea typeface="Segoe UI"/>
                <a:cs typeface="Segoe UI"/>
              </a:rPr>
              <a:t>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02536" y="4023359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Qwen3-4B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4573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74573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492861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58968" y="3538727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Real-Time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28616" y="4023359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71816" y="3246120"/>
            <a:ext cx="2697480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671816" y="3246120"/>
            <a:ext cx="2697480" cy="12801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7854696" y="3520439"/>
            <a:ext cx="438912" cy="438912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5048" y="3538727"/>
            <a:ext cx="1801368" cy="4114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130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Intelligent Learning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54696" y="4023359"/>
            <a:ext cx="2331720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15000"/>
              </a:lnSpc>
            </a:pPr>
            <a:r>
              <a:rPr lang="fa-IR" sz="1000" b="0">
                <a:solidFill>
                  <a:srgbClr val="17172B"/>
                </a:solidFill>
                <a:latin typeface="Segoe UI"/>
                <a:ea typeface="Segoe UI"/>
                <a:cs typeface="Segoe UI"/>
              </a:rPr>
              <a:t>SkillTag + Analytics + Recommendation + Practice Exams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19656" y="5257800"/>
            <a:ext cx="8549640" cy="566928"/>
          </a:xfrm>
          <a:prstGeom prst="roundRect">
            <a:avLst>
              <a:gd name="adj" fmla="val 19354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35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قابلیت‌های فنی و هوشمند را در یک معماری یکپارچه پیاده‌سازی کرده است.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نتیجه‌گیری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چهار دستاورد اصلی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20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3815" y="146304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560759" y="146304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8135" y="166420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8135" y="173736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LMS یکپارچه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8135" y="235915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مدیریت دوره، محتوا، آزمون و کاربران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46304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769864" y="146304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7240" y="166420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173736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AI Question Generation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35915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کاهش بار تولید سؤال برای مدرس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93815" y="338328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560759" y="338328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8135" y="358444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8135" y="365760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Skill-Level Analytics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8135" y="427939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تحلیل عملکرد فراتر از نمره کلی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383280"/>
            <a:ext cx="5394960" cy="1737360"/>
          </a:xfrm>
          <a:prstGeom prst="roundRect">
            <a:avLst>
              <a:gd name="adj" fmla="val 6315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769864" y="3383280"/>
            <a:ext cx="128016" cy="173736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3584448"/>
            <a:ext cx="1280160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3000" b="1">
                <a:solidFill>
                  <a:srgbClr val="D6D8F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657600"/>
            <a:ext cx="484632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Personalized Learning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4846320" cy="7315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200" b="0">
                <a:solidFill>
                  <a:srgbClr val="55587A"/>
                </a:solidFill>
                <a:latin typeface="Vazirmatn"/>
                <a:ea typeface="Vazirmatn"/>
                <a:cs typeface="Vazirmatn"/>
              </a:rPr>
              <a:t>توصیه دوره + آزمون تمرینی هدفمند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5440680"/>
            <a:ext cx="9994392" cy="868680"/>
          </a:xfrm>
          <a:prstGeom prst="roundRect">
            <a:avLst>
              <a:gd name="adj" fmla="val 12631"/>
            </a:avLst>
          </a:prstGeom>
          <a:solidFill>
            <a:srgbClr val="4338CA"/>
          </a:solidFill>
          <a:ln>
            <a:noFill/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15000"/>
              </a:lnSpc>
            </a:pPr>
            <a:r>
              <a:rPr lang="fa-IR" sz="17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Mentorito ارزیابی را به تحلیل و سپس به اقدام آموزشی تبدیل می‌کند.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1475720" y="164592"/>
            <a:ext cx="109728" cy="109728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640312" y="16459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274320"/>
            <a:ext cx="10835640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27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محدودیت‌ها و مسیر توسعه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"/>
            <a:ext cx="10835640" cy="310896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250" b="0">
                <a:solidFill>
                  <a:srgbClr val="6366F1"/>
                </a:solidFill>
                <a:latin typeface="Vazirmatn"/>
                <a:ea typeface="Vazirmatn"/>
                <a:cs typeface="Vazirmatn"/>
              </a:rPr>
              <a:t>Backup — در صورت وجود زمان نمایش داده شود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7624" y="859536"/>
            <a:ext cx="658368" cy="50292"/>
          </a:xfrm>
          <a:prstGeom prst="roundRect">
            <a:avLst>
              <a:gd name="adj" fmla="val 50000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2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l" rtl="0">
              <a:lnSpc>
                <a:spcPct val="100000"/>
              </a:lnSpc>
            </a:pPr>
            <a:r>
              <a:rPr lang="fa-IR" sz="950" b="1">
                <a:solidFill>
                  <a:srgbClr val="5B5FEF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047" y="6501383"/>
            <a:ext cx="365760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9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[نام دانشگاه]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77095" y="6501383"/>
            <a:ext cx="2011680" cy="2743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0">
              <a:lnSpc>
                <a:spcPct val="100000"/>
              </a:lnSpc>
            </a:pPr>
            <a:r>
              <a:rPr lang="fa-IR" sz="950" b="1">
                <a:solidFill>
                  <a:srgbClr val="6366F1"/>
                </a:solidFill>
                <a:latin typeface="Segoe UI"/>
                <a:ea typeface="Segoe UI"/>
                <a:cs typeface="Segoe UI"/>
              </a:rPr>
              <a:t>21 / 22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17320"/>
            <a:ext cx="5379415" cy="4480560"/>
          </a:xfrm>
          <a:prstGeom prst="roundRect">
            <a:avLst>
              <a:gd name="adj" fmla="val 2448"/>
            </a:avLst>
          </a:prstGeom>
          <a:solidFill>
            <a:srgbClr val="FFFFFF"/>
          </a:solidFill>
          <a:ln w="12700">
            <a:solidFill>
              <a:srgbClr val="E4E6FB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79415" cy="475488"/>
          </a:xfrm>
          <a:prstGeom prst="roundRect">
            <a:avLst>
              <a:gd name="adj" fmla="val 23076"/>
            </a:avLst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1490472"/>
            <a:ext cx="501365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محدودیت‌های نسخه فعلی</a:t>
            </a:r>
          </a:p>
        </p:txBody>
      </p:sp>
      <p:sp>
        <p:nvSpPr>
          <p:cNvPr id="16" name="Oval 15"/>
          <p:cNvSpPr/>
          <p:nvPr/>
        </p:nvSpPr>
        <p:spPr>
          <a:xfrm>
            <a:off x="11304727" y="2203703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2121408"/>
            <a:ext cx="4602175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2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کیفیت سؤال AI وابسته به مدل، Prompt و بررسی انسانی است.</a:t>
            </a:r>
          </a:p>
        </p:txBody>
      </p:sp>
      <p:sp>
        <p:nvSpPr>
          <p:cNvPr id="18" name="Oval 17"/>
          <p:cNvSpPr/>
          <p:nvPr/>
        </p:nvSpPr>
        <p:spPr>
          <a:xfrm>
            <a:off x="11304727" y="3163824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37960" y="3081528"/>
            <a:ext cx="4602175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2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چت بلادرنگ فعلی برای زیرساخت توزیع‌شده چندسروری نیازمند لایه هماهنگ‌کننده مشترک است.</a:t>
            </a:r>
          </a:p>
        </p:txBody>
      </p:sp>
      <p:sp>
        <p:nvSpPr>
          <p:cNvPr id="20" name="Oval 19"/>
          <p:cNvSpPr/>
          <p:nvPr/>
        </p:nvSpPr>
        <p:spPr>
          <a:xfrm>
            <a:off x="11304727" y="4123944"/>
            <a:ext cx="128016" cy="12801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4041648"/>
            <a:ext cx="4602175" cy="8686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5000"/>
              </a:lnSpc>
            </a:pPr>
            <a:r>
              <a:rPr lang="fa-IR" sz="1200" b="0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الگوریتم توصیه فعلی مبتنی بر امتیازدهی شفاف و وزن‌دار است.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5138928"/>
            <a:ext cx="4922215" cy="64008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20000"/>
              </a:lnSpc>
            </a:pPr>
            <a:r>
              <a:rPr lang="fa-IR" sz="1100" b="1">
                <a:solidFill>
                  <a:srgbClr val="5B5FEF"/>
                </a:solidFill>
                <a:latin typeface="Vazirmatn"/>
                <a:ea typeface="Vazirmatn"/>
                <a:cs typeface="Vazirmatn"/>
              </a:rPr>
              <a:t>این محدودیت‌ها شفاف مستند شده‌اند و مسیر بهبود مشخصی دارند.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1417320"/>
            <a:ext cx="5379415" cy="4480560"/>
          </a:xfrm>
          <a:prstGeom prst="roundRect">
            <a:avLst>
              <a:gd name="adj" fmla="val 2448"/>
            </a:avLst>
          </a:prstGeom>
          <a:solidFill>
            <a:srgbClr val="EEF0FF"/>
          </a:solidFill>
          <a:ln w="12700">
            <a:solidFill>
              <a:srgbClr val="6366F1"/>
            </a:solidFill>
          </a:ln>
          <a:effectLst>
            <a:outerShdw blurRad="91440" dist="45720" dir="5400000" rotWithShape="0">
              <a:srgbClr val="6366F1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502920" y="1417320"/>
            <a:ext cx="5379415" cy="475488"/>
          </a:xfrm>
          <a:prstGeom prst="roundRect">
            <a:avLst>
              <a:gd name="adj" fmla="val 23076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85800" y="1490472"/>
            <a:ext cx="5013655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40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Future Work</a:t>
            </a:r>
            <a:r>
              <a:rPr lang="fa-IR" sz="14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 — توسعه آینده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2148840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استفاده از مدل‌های زبانی بزرگ‌تر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2898648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بهبود الگوریتم Recommendation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3648456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توسعه تحلیل‌های یادگیری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398264"/>
            <a:ext cx="483077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200" b="1">
                <a:solidFill>
                  <a:srgbClr val="17172B"/>
                </a:solidFill>
                <a:latin typeface="Vazirmatn"/>
                <a:ea typeface="Vazirmatn"/>
                <a:cs typeface="Vazirmatn"/>
              </a:rPr>
              <a:t>توسعه قابلیت‌های شخصی‌سازی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230368"/>
            <a:ext cx="4830775" cy="50292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r" rtl="1">
              <a:lnSpc>
                <a:spcPct val="100000"/>
              </a:lnSpc>
            </a:pPr>
            <a:r>
              <a:rPr lang="fa-IR" sz="1050" b="1">
                <a:solidFill>
                  <a:srgbClr val="4338CA"/>
                </a:solidFill>
                <a:latin typeface="Vazirmatn"/>
                <a:ea typeface="Vazirmatn"/>
                <a:cs typeface="Vazirmatn"/>
              </a:rPr>
              <a:t>واضحاً جدا از قابلیت‌های فعلی — Future 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053328"/>
            <a:ext cx="11183112" cy="32004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1000" b="0">
                <a:solidFill>
                  <a:srgbClr val="8A8FB8"/>
                </a:solidFill>
                <a:latin typeface="Vazirmatn"/>
                <a:ea typeface="Vazirmatn"/>
                <a:cs typeface="Vazirmatn"/>
              </a:rPr>
              <a:t>اسلاید Backup — در صورت کمبود زمان، ارائه با اسلاید نتیجه‌گیری پایان می‌یابد.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E1B4B"/>
            </a:gs>
            <a:gs pos="100000">
              <a:srgbClr val="4338CA"/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41280" y="-1280160"/>
            <a:ext cx="4023360" cy="4023360"/>
          </a:xfrm>
          <a:prstGeom prst="ellipse">
            <a:avLst/>
          </a:prstGeom>
          <a:noFill/>
          <a:ln w="15240">
            <a:solidFill>
              <a:srgbClr val="6366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645920" y="4572000"/>
            <a:ext cx="3657600" cy="3657600"/>
          </a:xfrm>
          <a:prstGeom prst="ellipse">
            <a:avLst/>
          </a:prstGeom>
          <a:noFill/>
          <a:ln w="1524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509760" y="5029200"/>
            <a:ext cx="219456" cy="219456"/>
          </a:xfrm>
          <a:prstGeom prst="ellipse">
            <a:avLst/>
          </a:prstGeom>
          <a:solidFill>
            <a:srgbClr val="5B5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607040" y="429768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247120" y="5394960"/>
            <a:ext cx="256032" cy="256032"/>
          </a:xfrm>
          <a:prstGeom prst="ellipse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10543032" cy="91440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1">
              <a:lnSpc>
                <a:spcPct val="100000"/>
              </a:lnSpc>
            </a:pPr>
            <a:r>
              <a:rPr lang="fa-IR" sz="48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ممنون از توجه شما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55767" y="2926080"/>
            <a:ext cx="1280160" cy="6400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10543032" cy="8229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4000" b="1">
                <a:solidFill>
                  <a:srgbClr val="C7C9F8"/>
                </a:solidFill>
                <a:latin typeface="Segoe UI"/>
                <a:ea typeface="Segoe UI"/>
                <a:cs typeface="Segoe UI"/>
              </a:rPr>
              <a:t>Mentorito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61407" y="4297680"/>
            <a:ext cx="2468880" cy="65836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9B9F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9144" rIns="45720" bIns="9144" rtlCol="0" anchor="ctr"/>
          <a:lstStyle/>
          <a:p>
            <a:pPr algn="ctr" rtl="1">
              <a:lnSpc>
                <a:spcPct val="100000"/>
              </a:lnSpc>
            </a:pPr>
            <a:r>
              <a:rPr lang="fa-IR" sz="1600" b="1">
                <a:solidFill>
                  <a:srgbClr val="FFFFFF"/>
                </a:solidFill>
                <a:latin typeface="Vazirmatn"/>
                <a:ea typeface="Vazirmatn"/>
                <a:cs typeface="Vazirmatn"/>
              </a:rPr>
              <a:t>پرسش و پاسخ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43032" cy="365760"/>
          </a:xfrm>
          <a:prstGeom prst="rect">
            <a:avLst/>
          </a:prstGeom>
          <a:noFill/>
        </p:spPr>
        <p:txBody>
          <a:bodyPr wrap="square" lIns="27432" tIns="9144" rIns="27432" bIns="9144" anchor="t">
            <a:spAutoFit/>
          </a:bodyPr>
          <a:lstStyle/>
          <a:p>
            <a:pPr algn="ctr" rtl="0">
              <a:lnSpc>
                <a:spcPct val="100000"/>
              </a:lnSpc>
            </a:pPr>
            <a:r>
              <a:rPr lang="fa-IR" sz="1050" b="0" spc="120">
                <a:solidFill>
                  <a:srgbClr val="8F93D8"/>
                </a:solidFill>
                <a:latin typeface="Segoe UI"/>
                <a:ea typeface="Segoe UI"/>
                <a:cs typeface="Segoe UI"/>
              </a:rPr>
              <a:t>AI-Powered Learning  •  Skill Analytics  •  Personalized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1825</Words>
  <Application>Microsoft Office PowerPoint</Application>
  <PresentationFormat>Widescreen</PresentationFormat>
  <Paragraphs>512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Segoe UI</vt:lpstr>
      <vt:lpstr>Vazirmatn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faeze dalili</cp:lastModifiedBy>
  <cp:revision>2</cp:revision>
  <dcterms:created xsi:type="dcterms:W3CDTF">2013-01-27T09:14:16Z</dcterms:created>
  <dcterms:modified xsi:type="dcterms:W3CDTF">2026-09-06T06:40:54Z</dcterms:modified>
  <cp:category/>
</cp:coreProperties>
</file>